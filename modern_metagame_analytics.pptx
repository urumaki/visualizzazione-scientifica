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700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Presentare la domanda complessiva: il formato Modern visto attraverso i dati di torneo. Tre numeri per dare la scala del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sezione risponde a una domanda. Le visualizzazioni sono scelte per rispondere a quella domanda, non per mostrare tutto il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i concetti necessari per leggere i grafici. Sottolineare winrate (pareggi esclusi) e intervallo di confidenza, che tornano nella sezione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MTGGoldfish dà volume e storia ma solo piazzamenti. melee.gg dà il risultato di ogni partita ma solo per gli eventi recenti. NOTA PER L'AUTORE: i valori per anno del grafico sono stati letti dal grafico originale (approssimati al centinaio): sostituirli con i valori esatti del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sezione: descrittiva.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Grigio = MTGGoldfish (in larga parte online), scuro = Regional Championship dal vivo. Affinity (MTGGoldfish) e Izzet Affinity (melee.gg) sono trattati come lo stesso archetipo. Mazzi senza categoria esclusi dalla classifica ma inclusi nel totale per le percentuali.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multiples con la stessa scala Y: i picchi sono confrontabili a colpo d'occhio. Le linee tratteggiate verticali sono gli aggiornamenti della banlist (dettaglio nella sezione 2). La quota non mostrata resta ampia: oltre 500 archetipi distinti.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sezione.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aggiornamento apre una nuova era (Era 1 fino a febbraio 2021, Era 10 dal 18 maggio 2026). Le ere sono l'unità temporale usata nei grafici successivi. L'ultimo aggiornamento, in arancione, è analizzato nella prossima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freccia va dalla quota nell'Era 9 a quella nell'Era 10. Ordinamento per variazione: in alto chi ha guadagnato, in basso chi ha perso. Phlage era la carta chiave sia di Boros Energy sia di Jeskai Blink.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conteggi grezzi favorivano l'Era 9, lunga 14 mesi. Dividendo per la durata in mesi le ere diventano confrontabili. Il riquadro arancione indica l'archetipo con più piazzamenti in quella era. Limite: la normalizzazione ideale sarebbe per numero di tornei.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Violent Outburst funziona da attivatore di cascata a costo zero, quindi ci si aspettava un rilancio di Living End. L'adozione c'è; il winrate sale di 3,5 punti ma gli intervalli si sovrappongono ampiamente, e 52 partite sono troppo poche per concludere. L'altra carta sbannata, Umezawa's Jitte, compare in una sola decklist.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Terza sezione: inferenziale.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punto per archetipo, grande in proporzione alle partite giocate; la barra è l'intervallo di confidenza al 95%. Verde se l'intervallo è interamente sopra il 50%, arancione se interamente sotto, grigio se lo include. Circa il 95% delle partite dei mazzi principali cade nell'Era 9, per questo il ranking della sola Era 9 è quasi identico e non viene ripetuto.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legge per righe. Scala divergente: verde vince, arancione perde, bianco equilibrio. Il grassetto indica un intervallo di confidenza che esclude il 50%. Attenzione: con 90 celle, circa 4-5 risultati 'significativi' possono comparire per puro caso al livello del 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 Tour è su invito: avversari più forti e più preparati contro i mazzi dominanti. Gli intervalli del Pro Tour sono larghi perché i campioni sono piccoli. I dati Pro Tour non vengono dalla stessa pipeline: il confronto è indicativo.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conta la presenza della carta nel mazzo, non il numero di copie, altrimenti le carte giocate in 4 copie dominerebbero il grafico. In arancione le carte bannate durante il periodo: The One Ring (16.12.24) e Phlage (18.05.26). Nel sideboard dominano le risposte mirate: Mystical Dispute contro i mazzi blu, Consign to Memory contro combo e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Riprendere le tre domande iniziali: chi gioca cosa (Boros Energy), cosa cambia con la banlist (Phlage), chi vince davvero (sei archetipi, e il caso Izzet Prowess).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Essere espliciti sui limiti rende più credibili i risultati precedenti.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VISUALIZZAZIONE SCIENTIFICA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Metagame Analytics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domina il Modern competitivo, come lo cambia la banlist e chi vince davvero (2020–2026)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188.911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mazzi analizzati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(MTGGoldfish + melee.gg)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41.716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registrate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per match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Regional Championship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Spotlight Series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Federico Macasso  ·  Matricola 21030A</a:t>
            </a:r>
            <a:endParaRPr lang="en-US" sz="1500" dirty="0"/>
          </a:p>
        </p:txBody>
      </p:sp>
      <p:pic>
        <p:nvPicPr>
          <p:cNvPr id="13" name="Immagine 12" descr="Immagine che contiene Carattere, Elementi grafici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066BB2B6-184F-504D-678E-55DD59C19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478" y="316830"/>
            <a:ext cx="2327001" cy="6464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</a:t>
            </a:r>
            <a:r>
              <a:rPr lang="en-US" sz="48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quesiti</a:t>
            </a: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</a:t>
            </a:r>
            <a:r>
              <a:rPr lang="en-US" sz="4800" b="1" dirty="0" err="1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analizzare</a:t>
            </a:r>
            <a:r>
              <a:rPr lang="en-US" sz="48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gioca cosa?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archetipi sono più diffusi e come è cambiato il metagame dal 2020 a oggi.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 per fonte · evoluzione mensile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196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 txBox="1"/>
          <p:nvPr/>
        </p:nvSpPr>
        <p:spPr>
          <a:xfrm>
            <a:off x="457200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cambia con la banlist?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reagisce il formato ai 9 aggiornamenti della lista delle carte vietate.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· Era 9 vs Era 10 · piazzamenti per era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1828800"/>
            <a:ext cx="3520440" cy="42062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8366760" y="2103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2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34290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vince davvero?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42976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 archetipi hanno un winrate superiore al 50% in modo statisticamente affidabile.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5303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con IC 95% · matchup · confronto Pro Tour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Magic e il formato Modern in un minuto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30552"/>
            <a:ext cx="265176" cy="26517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carte, più 15 di sideboard da scambiare tra una partita e l'altra.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734056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7"/>
          <p:cNvSpPr/>
          <p:nvPr/>
        </p:nvSpPr>
        <p:spPr>
          <a:xfrm>
            <a:off x="2916936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130552"/>
            <a:ext cx="265176" cy="26517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16936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2916936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 le carte stampate dal 2003 in poi, senza rotazione.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010912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1"/>
          <p:cNvSpPr/>
          <p:nvPr/>
        </p:nvSpPr>
        <p:spPr>
          <a:xfrm>
            <a:off x="5193792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130552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193792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Incontro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193792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meglio di 3 partite; vince chi ne conquista 2.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7287768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5"/>
          <p:cNvSpPr/>
          <p:nvPr/>
        </p:nvSpPr>
        <p:spPr>
          <a:xfrm>
            <a:off x="7470648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2130552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70648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7470648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preliminari per la classifica, poi eliminazione diretta.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9564624" y="1828800"/>
            <a:ext cx="2057400" cy="201168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Shape 19"/>
          <p:cNvSpPr/>
          <p:nvPr/>
        </p:nvSpPr>
        <p:spPr>
          <a:xfrm>
            <a:off x="9747504" y="2011680"/>
            <a:ext cx="502920" cy="5029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6376" y="2130552"/>
            <a:ext cx="265176" cy="26517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Banlist</a:t>
            </a:r>
            <a:endParaRPr lang="en-US" sz="1700" dirty="0"/>
          </a:p>
        </p:txBody>
      </p:sp>
      <p:sp>
        <p:nvSpPr>
          <p:cNvPr id="29" name="Text 21"/>
          <p:cNvSpPr txBox="1"/>
          <p:nvPr/>
        </p:nvSpPr>
        <p:spPr>
          <a:xfrm>
            <a:off x="9747504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vietate. Ogni aggiornamento apre una nuova «era».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457200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Shape 23"/>
          <p:cNvSpPr/>
          <p:nvPr/>
        </p:nvSpPr>
        <p:spPr>
          <a:xfrm>
            <a:off x="640080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370832"/>
            <a:ext cx="265176" cy="26517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640080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</a:t>
            </a:r>
            <a:endParaRPr lang="en-US" sz="1700" dirty="0"/>
          </a:p>
        </p:txBody>
      </p:sp>
      <p:sp>
        <p:nvSpPr>
          <p:cNvPr id="34" name="Text 25"/>
          <p:cNvSpPr txBox="1"/>
          <p:nvPr/>
        </p:nvSpPr>
        <p:spPr>
          <a:xfrm>
            <a:off x="640080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Strategia riconoscibile di mazzo, es. Boros Energy.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2734056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6" name="Shape 27"/>
          <p:cNvSpPr/>
          <p:nvPr/>
        </p:nvSpPr>
        <p:spPr>
          <a:xfrm>
            <a:off x="2916936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5808" y="4370832"/>
            <a:ext cx="265176" cy="265176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2916936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Metagame</a:t>
            </a:r>
            <a:endParaRPr lang="en-US" sz="1700" dirty="0"/>
          </a:p>
        </p:txBody>
      </p:sp>
      <p:sp>
        <p:nvSpPr>
          <p:cNvPr id="39" name="Text 29"/>
          <p:cNvSpPr txBox="1"/>
          <p:nvPr/>
        </p:nvSpPr>
        <p:spPr>
          <a:xfrm>
            <a:off x="2916936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di utilizzo di ogni archetipo in un periodo.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5010912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Shape 31"/>
          <p:cNvSpPr/>
          <p:nvPr/>
        </p:nvSpPr>
        <p:spPr>
          <a:xfrm>
            <a:off x="5193792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12664" y="4370832"/>
            <a:ext cx="265176" cy="26517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193792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</a:t>
            </a:r>
            <a:endParaRPr lang="en-US" sz="1700" dirty="0"/>
          </a:p>
        </p:txBody>
      </p:sp>
      <p:sp>
        <p:nvSpPr>
          <p:cNvPr id="44" name="Text 33"/>
          <p:cNvSpPr txBox="1"/>
          <p:nvPr/>
        </p:nvSpPr>
        <p:spPr>
          <a:xfrm>
            <a:off x="5193792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Vittorie / (vittorie + sconfitte). Pareggi esclusi.</a:t>
            </a:r>
            <a:endParaRPr lang="en-US" sz="1200" dirty="0"/>
          </a:p>
        </p:txBody>
      </p:sp>
      <p:sp>
        <p:nvSpPr>
          <p:cNvPr id="45" name="Shape 34"/>
          <p:cNvSpPr/>
          <p:nvPr/>
        </p:nvSpPr>
        <p:spPr>
          <a:xfrm>
            <a:off x="7287768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6" name="Shape 35"/>
          <p:cNvSpPr/>
          <p:nvPr/>
        </p:nvSpPr>
        <p:spPr>
          <a:xfrm>
            <a:off x="7470648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9520" y="4370832"/>
            <a:ext cx="265176" cy="26517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7470648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Matchup</a:t>
            </a:r>
            <a:endParaRPr lang="en-US" sz="1700" dirty="0"/>
          </a:p>
        </p:txBody>
      </p:sp>
      <p:sp>
        <p:nvSpPr>
          <p:cNvPr id="49" name="Text 37"/>
          <p:cNvSpPr txBox="1"/>
          <p:nvPr/>
        </p:nvSpPr>
        <p:spPr>
          <a:xfrm>
            <a:off x="7470648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Scontro tra due archetipi, con il suo winrate.</a:t>
            </a:r>
            <a:endParaRPr lang="en-US" sz="1200" dirty="0"/>
          </a:p>
        </p:txBody>
      </p:sp>
      <p:sp>
        <p:nvSpPr>
          <p:cNvPr id="50" name="Shape 38"/>
          <p:cNvSpPr/>
          <p:nvPr/>
        </p:nvSpPr>
        <p:spPr>
          <a:xfrm>
            <a:off x="9564624" y="4069080"/>
            <a:ext cx="2057400" cy="2011680"/>
          </a:xfrm>
          <a:prstGeom prst="rect">
            <a:avLst/>
          </a:prstGeom>
          <a:solidFill>
            <a:srgbClr val="E3F2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1" name="Shape 39"/>
          <p:cNvSpPr/>
          <p:nvPr/>
        </p:nvSpPr>
        <p:spPr>
          <a:xfrm>
            <a:off x="9747504" y="4251960"/>
            <a:ext cx="502920" cy="502920"/>
          </a:xfrm>
          <a:prstGeom prst="ellipse">
            <a:avLst/>
          </a:prstGeom>
          <a:solidFill>
            <a:srgbClr val="1B998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66376" y="4370832"/>
            <a:ext cx="265176" cy="265176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747504" y="48737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95%</a:t>
            </a:r>
            <a:endParaRPr lang="en-US" sz="1700" dirty="0"/>
          </a:p>
        </p:txBody>
      </p:sp>
      <p:sp>
        <p:nvSpPr>
          <p:cNvPr id="54" name="Text 41"/>
          <p:cNvSpPr txBox="1"/>
          <p:nvPr/>
        </p:nvSpPr>
        <p:spPr>
          <a:xfrm>
            <a:off x="9747504" y="5257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Incertezza sul winrate: più piccolo il campione, più largo l'intervallo.</a:t>
            </a:r>
            <a:endParaRPr lang="en-US" sz="1200" dirty="0"/>
          </a:p>
        </p:txBody>
      </p:sp>
      <p:sp>
        <p:nvSpPr>
          <p:cNvPr id="55" name="Text 42"/>
          <p:cNvSpPr txBox="1"/>
          <p:nvPr/>
        </p:nvSpPr>
        <p:spPr>
          <a:xfrm>
            <a:off x="457200" y="1481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DEL GIOCO</a:t>
            </a:r>
            <a:endParaRPr lang="en-US" sz="1050" dirty="0"/>
          </a:p>
        </p:txBody>
      </p:sp>
      <p:sp>
        <p:nvSpPr>
          <p:cNvPr id="56" name="Text 43"/>
          <p:cNvSpPr txBox="1"/>
          <p:nvPr/>
        </p:nvSpPr>
        <p:spPr>
          <a:xfrm>
            <a:off x="45720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TERMINI USATI NEI GRAFICI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fonti complementari: ampiezza storica e profondità competitiva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mtggoldfish.com · melee.gg (Decklist, Standings, Player API). Pipeline: Python (requests, pandas, matplotlib).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MTGGoldfish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945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e piazzamenti, ago 2020 – 2026 · 63% MTGO, 37% cartaceo</a:t>
            </a:r>
            <a:endParaRPr lang="en-US" sz="1300" dirty="0"/>
          </a:p>
        </p:txBody>
      </p:sp>
      <p:pic>
        <p:nvPicPr>
          <p:cNvPr id="20" name="Image 0" descr="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612326"/>
            <a:ext cx="5760720" cy="309638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2026 parziale: il calo riflette la copertura, non meno tornei.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0" y="1783080"/>
            <a:ext cx="5148072" cy="44348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 txBox="1"/>
          <p:nvPr/>
        </p:nvSpPr>
        <p:spPr>
          <a:xfrm>
            <a:off x="6858000" y="19202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melee.gg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Championship e Spotlight Series, risultato di ogni partita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7.129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4582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41.716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0058400" y="2788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0058400" y="3383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3931920"/>
            <a:ext cx="4663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 ricalcolato dal punteggio grezzo di ogni partita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 collegato unendo decklist e classifiche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 con nome segnaposto («?????») esclusi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qui è disponibile il record W-L-D: MTGGoldfish fornisce solo il piazzamento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gioca cosa?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 degli archetipi nelle due fonti e la loro evoluzione dal 2020.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GIOCA COSA?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Boros Energy è il mazzo più giocato in entrambe le fonti, ma nei Regional il suo vantaggio si riduce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MTGGoldfish, melee.gg · stessa finestra feb 2025 – ago 2026 · archetipi presenti nella top 15 di entrambe le fonti.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16" name="Image 0" descr="p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09945"/>
            <a:ext cx="7315200" cy="44725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12,3 vs 7,3%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Energy: online è quasi il doppio del secondo mazzo, dal vivo il distacco è minore.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×1,9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Jeskai Blink è quasi due volte più presente nei Regional (5,3% vs 2,8%).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÷3,3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Eldrazi Tron fa il percorso opposto: 4,3% online, 1,3% dal vivo.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GIOCA COSA?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Boros Energy ha toccato il 25% del metagame: nessun altro archetipo di punta dal 2020 aveva superato il 12%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(storico) + melee.gg (dal 2025, nomi degli archetipi riconciliati). Quota mensile delle decklist.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10" name="Image 0" descr="e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225" y="1737360"/>
            <a:ext cx="108585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cambia con la banlist?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aggiornamenti in cinque anni: come si sposta il metagame quando una carta viene vietata.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aggiornamenti della banlist in cinque anni hanno ridisegnato il formato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magic.wizards.com, annunci ufficiali Banned &amp; Restricted (motivazioni sintetizzate).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3977640"/>
            <a:ext cx="11274552" cy="0"/>
          </a:xfrm>
          <a:prstGeom prst="line">
            <a:avLst/>
          </a:prstGeom>
          <a:noFill/>
          <a:ln w="31750">
            <a:solidFill>
              <a:srgbClr val="A7AD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7223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8"/>
          <p:cNvSpPr/>
          <p:nvPr/>
        </p:nvSpPr>
        <p:spPr>
          <a:xfrm>
            <a:off x="8229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 txBox="1"/>
          <p:nvPr/>
        </p:nvSpPr>
        <p:spPr>
          <a:xfrm>
            <a:off x="45720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15.02.21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 the Dead, Uro e altre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ripetitive; Uro troppo efficiente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20368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21374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11315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07.03.22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315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Lurrus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31% dei mazzi vincenti online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33512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6"/>
          <p:cNvSpPr/>
          <p:nvPr/>
        </p:nvSpPr>
        <p:spPr>
          <a:xfrm>
            <a:off x="34518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7"/>
          <p:cNvSpPr txBox="1"/>
          <p:nvPr/>
        </p:nvSpPr>
        <p:spPr>
          <a:xfrm>
            <a:off x="24460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10.10.22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24460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Yorion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lunghe con mazzi da 80 carte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6657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0"/>
          <p:cNvSpPr/>
          <p:nvPr/>
        </p:nvSpPr>
        <p:spPr>
          <a:xfrm>
            <a:off x="47663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 txBox="1"/>
          <p:nvPr/>
        </p:nvSpPr>
        <p:spPr>
          <a:xfrm>
            <a:off x="37604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07.08.23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37604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Preordain (sbannata)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Rinforzare i mazzi blu «fair»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801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Shape 24"/>
          <p:cNvSpPr/>
          <p:nvPr/>
        </p:nvSpPr>
        <p:spPr>
          <a:xfrm>
            <a:off x="60807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Text 25"/>
          <p:cNvSpPr txBox="1"/>
          <p:nvPr/>
        </p:nvSpPr>
        <p:spPr>
          <a:xfrm>
            <a:off x="50749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04.12.23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749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Fury, Up the Beanstalk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Fury rendeva ingiocabili le creature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2946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Shape 28"/>
          <p:cNvSpPr/>
          <p:nvPr/>
        </p:nvSpPr>
        <p:spPr>
          <a:xfrm>
            <a:off x="73952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29"/>
          <p:cNvSpPr txBox="1"/>
          <p:nvPr/>
        </p:nvSpPr>
        <p:spPr>
          <a:xfrm>
            <a:off x="63893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11.03.24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3893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Violent Outburst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Frenare Temur Rhinos</a:t>
            </a:r>
            <a:endParaRPr lang="en-US" sz="1350" dirty="0"/>
          </a:p>
        </p:txBody>
      </p:sp>
      <p:sp>
        <p:nvSpPr>
          <p:cNvPr id="34" name="Shape 31"/>
          <p:cNvSpPr/>
          <p:nvPr/>
        </p:nvSpPr>
        <p:spPr>
          <a:xfrm>
            <a:off x="860907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5" name="Shape 32"/>
          <p:cNvSpPr/>
          <p:nvPr/>
        </p:nvSpPr>
        <p:spPr>
          <a:xfrm>
            <a:off x="8709660" y="3474720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Text 33"/>
          <p:cNvSpPr txBox="1"/>
          <p:nvPr/>
        </p:nvSpPr>
        <p:spPr>
          <a:xfrm>
            <a:off x="7703820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16.12.24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7703820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Ring, Amped Raptor, Jegantha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Jegantha nel 40% dei mazzi; 4 carte sbannate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9923526" y="3877056"/>
            <a:ext cx="201168" cy="201168"/>
          </a:xfrm>
          <a:prstGeom prst="ellipse">
            <a:avLst/>
          </a:prstGeom>
          <a:solidFill>
            <a:srgbClr val="1C2233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Shape 36"/>
          <p:cNvSpPr/>
          <p:nvPr/>
        </p:nvSpPr>
        <p:spPr>
          <a:xfrm>
            <a:off x="10024110" y="4087368"/>
            <a:ext cx="0" cy="393192"/>
          </a:xfrm>
          <a:prstGeom prst="line">
            <a:avLst/>
          </a:prstGeom>
          <a:noFill/>
          <a:ln w="12700">
            <a:solidFill>
              <a:srgbClr val="1C2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0" name="Text 37"/>
          <p:cNvSpPr txBox="1"/>
          <p:nvPr/>
        </p:nvSpPr>
        <p:spPr>
          <a:xfrm>
            <a:off x="9018270" y="44805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31.03.25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9018270" y="484632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Underworld Breach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letali già dal turno 2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11237976" y="3877056"/>
            <a:ext cx="201168" cy="201168"/>
          </a:xfrm>
          <a:prstGeom prst="ellipse">
            <a:avLst/>
          </a:prstGeom>
          <a:solidFill>
            <a:srgbClr val="E457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Shape 40"/>
          <p:cNvSpPr/>
          <p:nvPr/>
        </p:nvSpPr>
        <p:spPr>
          <a:xfrm>
            <a:off x="11338560" y="3474720"/>
            <a:ext cx="0" cy="393192"/>
          </a:xfrm>
          <a:prstGeom prst="line">
            <a:avLst/>
          </a:prstGeom>
          <a:noFill/>
          <a:ln w="12700">
            <a:solidFill>
              <a:srgbClr val="E457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4" name="Text 41"/>
          <p:cNvSpPr txBox="1"/>
          <p:nvPr/>
        </p:nvSpPr>
        <p:spPr>
          <a:xfrm>
            <a:off x="9720072" y="3200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18.05.26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9720072" y="1828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Phlage, Lotus Field</a:t>
            </a:r>
            <a:endParaRPr lang="en-US" sz="135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Phlage dominava Boros e Jeskai; 2 carte sbannate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11144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24288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37433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4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0577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5</a:t>
            </a:r>
            <a:endParaRPr lang="en-US" sz="900" dirty="0"/>
          </a:p>
        </p:txBody>
      </p:sp>
      <p:sp>
        <p:nvSpPr>
          <p:cNvPr id="50" name="Text 47"/>
          <p:cNvSpPr txBox="1"/>
          <p:nvPr/>
        </p:nvSpPr>
        <p:spPr>
          <a:xfrm>
            <a:off x="63722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6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6866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7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00112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8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10315575" y="40325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9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11064240" y="4032504"/>
            <a:ext cx="66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il ban di Phlage, Jeskai Blink quasi scompare e Boros Energy perde 6,4 punti di quota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(campione più ampio di melee.gg). Quota delle decklist per era; mostrati i 15 archetipi principali di ciascuna era.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18" name="Image 0" descr="ban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83080"/>
            <a:ext cx="6762059" cy="45719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 p.p.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Jeskai Blink: dal 4,2% allo 0,3%. È il calo relativo più netto (−94%).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−6,4 p.p.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 resta primo (8,6%) ma perde quasi metà della sua quota.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5262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+3,0 p.p.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138928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Goryo's Vengeance è il principale beneficiario, seguito dai mazzi Eldrazi.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7946136" y="5934456"/>
            <a:ext cx="3593592" cy="658368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 txBox="1"/>
          <p:nvPr/>
        </p:nvSpPr>
        <p:spPr>
          <a:xfrm>
            <a:off x="8083296" y="582930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L'Era 10 dura finora 3 mesi contro i 14 dell'Era 9: le quote recenti sono meno stabili.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parità di durata, Boros Energy guida dall'Era 7; nell'Era 10 Affinity e Goryo's lo raggiungono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MTGGoldfish, solo tornei MTGO (Modern Challenge, Preliminary): unica fonte con un piazzamento confrontabile. Ere 1–3 non tracciate.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18" name="Image 0" descr="to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64882"/>
            <a:ext cx="7498080" cy="448146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3–14 mesi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ere hanno durate molto diverse: i conteggi grezzi non sono confrontabili tra loro.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32,7 / mese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 nell'Era 9: il valore più alto di tutta la serie.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22,4 / mese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Yawgmoth nell'Era 6: il riferimento prima dell'arrivo di Boros Energy.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091424" y="5838444"/>
            <a:ext cx="3456432" cy="68580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 txBox="1"/>
          <p:nvPr/>
        </p:nvSpPr>
        <p:spPr>
          <a:xfrm>
            <a:off x="8138160" y="5724144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 = piazzamenti in top 3 al mese. </a:t>
            </a:r>
          </a:p>
          <a:p>
            <a:pPr marL="0" indent="0">
              <a:buNone/>
            </a:pPr>
            <a:r>
              <a:rPr lang="en-US" sz="1100" dirty="0" err="1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Riquadro</a:t>
            </a: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arancione = archetipo più presente in quella era.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CAMBIA CON LA BANLIST?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Violent Outburst torna quasi solo in Living End, ma il winrate non cambia in modo significativo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melee.gg, decklist successive all'unban del 18.05.26 · winrate su tutte le varianti colore di Living End, IC 95% di Wilson.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16" name="Image 0" descr="outbur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59752"/>
            <a:ext cx="4937760" cy="3670015"/>
          </a:xfrm>
          <a:prstGeom prst="rect">
            <a:avLst/>
          </a:prstGeom>
        </p:spPr>
      </p:pic>
      <p:pic>
        <p:nvPicPr>
          <p:cNvPr id="15" name="Image 0" descr="liv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958926"/>
            <a:ext cx="3200400" cy="37631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78240" y="17830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su 37</a:t>
            </a:r>
            <a:endParaRPr lang="en-US" sz="3000" dirty="0"/>
          </a:p>
        </p:txBody>
      </p:sp>
      <p:sp>
        <p:nvSpPr>
          <p:cNvPr id="12" name="Text 7"/>
          <p:cNvSpPr txBox="1"/>
          <p:nvPr/>
        </p:nvSpPr>
        <p:spPr>
          <a:xfrm>
            <a:off x="8778240" y="233172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con Violent Outburst sono Living End (59%).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32461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A7AD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+3,3 p.p.</a:t>
            </a:r>
            <a:endParaRPr lang="en-US" sz="3000" dirty="0"/>
          </a:p>
        </p:txBody>
      </p:sp>
      <p:sp>
        <p:nvSpPr>
          <p:cNvPr id="14" name="Text 9"/>
          <p:cNvSpPr txBox="1"/>
          <p:nvPr/>
        </p:nvSpPr>
        <p:spPr>
          <a:xfrm>
            <a:off x="8778240" y="379476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da 48,6% a 51,9%: differenza non significativa, IC sovrapposti.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3566160" y="20116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vince davvero?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3200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con intervalli di confidenza, matchup diretti e il confronto con il Pro Tour.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 archetipi vincono più del 50% in modo significativo; Izzet Prowess, secondo per diffusione, è l'unico sotto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 Regional Championship · archetipi con almeno 300 partite decise · pareggi esclusi · IC 95% di Wilson.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16" name="Image 0" descr="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84" y="1737360"/>
            <a:ext cx="7186649" cy="4617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0" y="178308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2331720"/>
            <a:ext cx="3502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con IC interamente sopra il 50%, da Simic Birthing Ritual (57,3%) a Jeskai Blink (52,6%).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229600" y="324612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229600" y="3794760"/>
            <a:ext cx="3502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Izzet Prowess è sotto in modo significativo (47,7%, 2.692 partite), pur essendo il 2° mazzo più giocato.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0" y="5257800"/>
            <a:ext cx="3502152" cy="100584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1"/>
          <p:cNvSpPr txBox="1"/>
          <p:nvPr/>
        </p:nvSpPr>
        <p:spPr>
          <a:xfrm>
            <a:off x="8366760" y="530352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Grigio = l'intervallo include il 50%: con questi dati non si può dire se il mazzo sia sopra o sotto la media.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Izzet Prowess è sotto il 50% contro 8 dei 9 avversari principali: batte solo Belcher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melee.gg Regional Championship · winrate del mazzo in riga contro quello in colonna · celle con meno di 30 partite tratteggiate.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18" name="Image 0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52567"/>
            <a:ext cx="7345680" cy="49025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412480" y="178308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233172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contro Belcher (91 partite): la sua unica vittoria netta.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2461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379476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Affinity contro Esper Goryo's: il matchup più sbilanciato tra i top 10.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412480" y="470916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35–40%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257800"/>
            <a:ext cx="3319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contro Boros Energy, Jeskai Blink e Goryo's Vengeance.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7942072" y="5936869"/>
            <a:ext cx="3319272" cy="692658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 txBox="1"/>
          <p:nvPr/>
        </p:nvSpPr>
        <p:spPr>
          <a:xfrm>
            <a:off x="8092440" y="5825998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90 confronti, 4–5 celle «significative» sono attese per puro caso: leggere i singoli valori con cautela.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74320" cy="274320"/>
          </a:xfrm>
          <a:prstGeom prst="ellipse">
            <a:avLst/>
          </a:prstGeom>
          <a:solidFill>
            <a:srgbClr val="1C223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VINCE DAVVERO?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Pro Tour Boros Energy scende dal 53% al 44%: il vantaggio dei Regional non si trasferisce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melee.gg Regional Championship (questo dataset) · Pro Tour MSH, giorni 1–2, dati pubblicati da Frank Karsten (x.com/karsten_frank).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16" name="Image 0" descr="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37360"/>
            <a:ext cx="6178269" cy="4617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38160" y="178308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−8,9 p.p.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3172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Energy: gli intervalli dei due eventi quasi non si toccano (285 partite al PT).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24612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−6,8 p.p.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379476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Affinity segue lo stesso schema: sopra il 50% nei Regional, sotto al Pro Tour.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709160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+3,2 / +3,4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525780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Izzet Prowess ed Esper Goryo's vanno meglio al Pro Tour.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Bolt è in più di un mazzo su quattro; due carte della top 20 sono oggi bannate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4190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MTGGoldfish + melee.gg, 188.911 mazzi · quota di mazzi che includono la carta (non numero di copie) · terre escluse.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59" y="1737360"/>
            <a:ext cx="11165433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2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non è forza: il 2° mazzo più giocato è l'unico che perde in modo significativo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86868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12,3%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 domina il metagame recente in entrambe le fonti, con un picco del 25%.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365760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vs 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significativamente sopra e sotto il 50% nei Regional Championship.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644652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 p.p.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ban di Phlage elimina di fatto Jeskai Blink in tre mesi.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06840" y="2743200"/>
            <a:ext cx="2560320" cy="3108960"/>
          </a:xfrm>
          <a:prstGeom prst="rect">
            <a:avLst/>
          </a:prstGeom>
          <a:solidFill>
            <a:srgbClr val="2A314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9235440" y="29718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 vs 44%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vantaggio di Boros Energy nei Regional non regge al Pro Tour.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 dei dati e sviluppi futuri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3200400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4"/>
          <p:cNvSpPr txBox="1"/>
          <p:nvPr/>
        </p:nvSpPr>
        <p:spPr>
          <a:xfrm>
            <a:off x="6858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temporale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974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partita per partita coprono solo le ere 8–10: nessun Regional Championship prima del 2024.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86200" y="2103120"/>
            <a:ext cx="3200400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 txBox="1"/>
          <p:nvPr/>
        </p:nvSpPr>
        <p:spPr>
          <a:xfrm>
            <a:off x="411480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piazzamenti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69748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 salva quasi solo piazzamento e decklist, senza il record W-L-D.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4206240"/>
            <a:ext cx="3200400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 txBox="1"/>
          <p:nvPr/>
        </p:nvSpPr>
        <p:spPr>
          <a:xfrm>
            <a:off x="68580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degli archetipi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8006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Scelti dai giocatori su melee.gg: varianti dello stesso mazzo possono apparire separate.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886200" y="4206240"/>
            <a:ext cx="3200400" cy="1874520"/>
          </a:xfrm>
          <a:prstGeom prst="rect">
            <a:avLst/>
          </a:prstGeom>
          <a:solidFill>
            <a:srgbClr val="EEF0F2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 txBox="1"/>
          <p:nvPr/>
        </p:nvSpPr>
        <p:spPr>
          <a:xfrm>
            <a:off x="411480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10 giovane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0" y="480060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 3 mesi contro i 14 dell'Era 9: i numeri recenti sono i meno stabili.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1323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C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1274552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melee.gg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Decklist/SearchDecklists, Standing/GetRoundStandings, Player/GetPlayerDetails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48716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mtggoldfish.com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Modern, decklist e piazzamenti (2020–2026)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5584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457200" y="3566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magic.wizards.com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Annunci ufficiali Banned &amp; Restricted, motivazioni dei ban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224528"/>
            <a:ext cx="11274552" cy="0"/>
          </a:xfrm>
          <a:prstGeom prst="line">
            <a:avLst/>
          </a:prstGeom>
          <a:noFill/>
          <a:ln w="1270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 txBox="1"/>
          <p:nvPr/>
        </p:nvSpPr>
        <p:spPr>
          <a:xfrm>
            <a:off x="4572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Karsten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 Pro Tour MSH, x.com/karsten_frank/status/2078731453685231746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2495</Words>
  <Application>Microsoft Office PowerPoint</Application>
  <PresentationFormat>Widescreen</PresentationFormat>
  <Paragraphs>275</Paragraphs>
  <Slides>20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Metagame Analytics</dc:title>
  <dc:subject>Popolarità, matchup e impatto delle banlist nel formato Modern</dc:subject>
  <dc:creator>Federico Macasso</dc:creator>
  <cp:lastModifiedBy>fede maki</cp:lastModifiedBy>
  <cp:revision>3</cp:revision>
  <dcterms:created xsi:type="dcterms:W3CDTF">2026-09-16T14:37:26Z</dcterms:created>
  <dcterms:modified xsi:type="dcterms:W3CDTF">2026-09-17T14:13:11Z</dcterms:modified>
</cp:coreProperties>
</file>