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8" r:id="rId3"/>
    <p:sldId id="259" r:id="rId4"/>
    <p:sldId id="257" r:id="rId5"/>
    <p:sldId id="260" r:id="rId6"/>
    <p:sldId id="261" r:id="rId7"/>
    <p:sldId id="262" r:id="rId8"/>
    <p:sldId id="263" r:id="rId9"/>
    <p:sldId id="264" r:id="rId10"/>
    <p:sldId id="272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3" r:id="rId19"/>
    <p:sldId id="274" r:id="rId20"/>
    <p:sldId id="275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84181" autoAdjust="0"/>
  </p:normalViewPr>
  <p:slideViewPr>
    <p:cSldViewPr snapToGrid="0" snapToObjects="1">
      <p:cViewPr varScale="1">
        <p:scale>
          <a:sx n="77" d="100"/>
          <a:sy n="77" d="100"/>
        </p:scale>
        <p:origin x="883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870036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Prima sezione: descrittiva.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(Small </a:t>
            </a:r>
            <a:r>
              <a:rPr lang="it-IT" dirty="0" err="1"/>
              <a:t>multiples</a:t>
            </a:r>
            <a:r>
              <a:rPr lang="it-IT" dirty="0"/>
              <a:t>: grafici ad area della quota mensile) I sei archetipi più giocati, tutti con la stessa scala verticale, così i picchi si confrontano a colpo d'occhio. Le linee tratteggiate sono gli aggiornamenti della </a:t>
            </a:r>
            <a:r>
              <a:rPr lang="it-IT" dirty="0" err="1"/>
              <a:t>banlist</a:t>
            </a:r>
            <a:r>
              <a:rPr lang="it-IT" dirty="0"/>
              <a:t>. Boros Energy arriva quasi al 25% del </a:t>
            </a:r>
            <a:r>
              <a:rPr lang="it-IT" dirty="0" err="1"/>
              <a:t>metagame</a:t>
            </a:r>
            <a:r>
              <a:rPr lang="it-IT" dirty="0"/>
              <a:t> a novembre 2024: un mazzo su quattro. Nessun altro archetipo dal 2020 ha superato il 18%.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Seconda sezione.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2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VISUALIZZAZIONE SCIENTIFICA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Modern Metagame Analytics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60604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domina il Modern competitivo, come lo cambia la banlist e chi vince davvero (2020–2026)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0690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188.911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8006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mazzi analizzati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(MTGGoldfish + melee.gg)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931920" y="40690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41.716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3931920" y="48006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partite registrate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per match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40690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168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48006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tornei Regional Championship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Spotlight Series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Federico Macasso  ·  Matricola 21030A</a:t>
            </a:r>
            <a:endParaRPr lang="en-US" sz="1500" dirty="0"/>
          </a:p>
        </p:txBody>
      </p:sp>
      <p:pic>
        <p:nvPicPr>
          <p:cNvPr id="13" name="Immagine 12" descr="Immagine che contiene Carattere, Elementi grafici, grafica, logo&#10;&#10;Il contenuto generato dall'IA potrebbe non essere corretto.">
            <a:extLst>
              <a:ext uri="{FF2B5EF4-FFF2-40B4-BE49-F238E27FC236}">
                <a16:creationId xmlns:a16="http://schemas.microsoft.com/office/drawing/2014/main" id="{066BB2B6-184F-504D-678E-55DD59C19D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2478" y="316830"/>
            <a:ext cx="2327001" cy="64649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1323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Magic e il formato Modern in un minuto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11274552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1828800"/>
            <a:ext cx="2057400" cy="2011680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Shape 3"/>
          <p:cNvSpPr/>
          <p:nvPr/>
        </p:nvSpPr>
        <p:spPr>
          <a:xfrm>
            <a:off x="640080" y="2011680"/>
            <a:ext cx="502920" cy="502920"/>
          </a:xfrm>
          <a:prstGeom prst="ellipse">
            <a:avLst/>
          </a:prstGeom>
          <a:solidFill>
            <a:srgbClr val="1C2233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2130552"/>
            <a:ext cx="265176" cy="26517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" y="2633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Mazzo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3017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60+ carte, più 15 di sideboard da scambiare tra una partita e l'altra.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2734056" y="1828800"/>
            <a:ext cx="2057400" cy="2011680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1" name="Shape 7"/>
          <p:cNvSpPr/>
          <p:nvPr/>
        </p:nvSpPr>
        <p:spPr>
          <a:xfrm>
            <a:off x="2916936" y="2011680"/>
            <a:ext cx="502920" cy="502920"/>
          </a:xfrm>
          <a:prstGeom prst="ellipse">
            <a:avLst/>
          </a:prstGeom>
          <a:solidFill>
            <a:srgbClr val="1C2233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5808" y="2130552"/>
            <a:ext cx="265176" cy="26517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16936" y="2633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2916936" y="3017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con le carte stampate dal 2003 in poi, senza rotazione.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5010912" y="1828800"/>
            <a:ext cx="2057400" cy="2011680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6" name="Shape 11"/>
          <p:cNvSpPr/>
          <p:nvPr/>
        </p:nvSpPr>
        <p:spPr>
          <a:xfrm>
            <a:off x="5193792" y="2011680"/>
            <a:ext cx="502920" cy="502920"/>
          </a:xfrm>
          <a:prstGeom prst="ellipse">
            <a:avLst/>
          </a:prstGeom>
          <a:solidFill>
            <a:srgbClr val="1C2233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2664" y="2130552"/>
            <a:ext cx="265176" cy="26517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193792" y="2633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Incontro</a:t>
            </a:r>
            <a:endParaRPr lang="en-US" sz="1700" dirty="0"/>
          </a:p>
        </p:txBody>
      </p:sp>
      <p:sp>
        <p:nvSpPr>
          <p:cNvPr id="19" name="Text 13"/>
          <p:cNvSpPr txBox="1"/>
          <p:nvPr/>
        </p:nvSpPr>
        <p:spPr>
          <a:xfrm>
            <a:off x="5193792" y="3017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meglio di 3 partite; vince chi ne conquista 2.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7287768" y="1828800"/>
            <a:ext cx="2057400" cy="2011680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1" name="Shape 15"/>
          <p:cNvSpPr/>
          <p:nvPr/>
        </p:nvSpPr>
        <p:spPr>
          <a:xfrm>
            <a:off x="7470648" y="2011680"/>
            <a:ext cx="502920" cy="502920"/>
          </a:xfrm>
          <a:prstGeom prst="ellipse">
            <a:avLst/>
          </a:prstGeom>
          <a:solidFill>
            <a:srgbClr val="1C2233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9520" y="2130552"/>
            <a:ext cx="265176" cy="26517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470648" y="2633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Torneo</a:t>
            </a:r>
            <a:endParaRPr lang="en-US" sz="1700" dirty="0"/>
          </a:p>
        </p:txBody>
      </p:sp>
      <p:sp>
        <p:nvSpPr>
          <p:cNvPr id="24" name="Text 17"/>
          <p:cNvSpPr txBox="1"/>
          <p:nvPr/>
        </p:nvSpPr>
        <p:spPr>
          <a:xfrm>
            <a:off x="7470648" y="3017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preliminari per la classifica, poi eliminazione diretta.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64624" y="1828800"/>
            <a:ext cx="2057400" cy="2011680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6" name="Shape 19"/>
          <p:cNvSpPr/>
          <p:nvPr/>
        </p:nvSpPr>
        <p:spPr>
          <a:xfrm>
            <a:off x="9747504" y="2011680"/>
            <a:ext cx="502920" cy="502920"/>
          </a:xfrm>
          <a:prstGeom prst="ellipse">
            <a:avLst/>
          </a:prstGeom>
          <a:solidFill>
            <a:srgbClr val="1C2233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66376" y="2130552"/>
            <a:ext cx="265176" cy="265176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9747504" y="2633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Banlist</a:t>
            </a:r>
            <a:endParaRPr lang="en-US" sz="1700" dirty="0"/>
          </a:p>
        </p:txBody>
      </p:sp>
      <p:sp>
        <p:nvSpPr>
          <p:cNvPr id="29" name="Text 21"/>
          <p:cNvSpPr txBox="1"/>
          <p:nvPr/>
        </p:nvSpPr>
        <p:spPr>
          <a:xfrm>
            <a:off x="9747504" y="3017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 vietate. Ogni aggiornamento apre una nuova «era».</a:t>
            </a:r>
            <a:endParaRPr lang="en-US" sz="1200" dirty="0"/>
          </a:p>
        </p:txBody>
      </p:sp>
      <p:sp>
        <p:nvSpPr>
          <p:cNvPr id="30" name="Shape 22"/>
          <p:cNvSpPr/>
          <p:nvPr/>
        </p:nvSpPr>
        <p:spPr>
          <a:xfrm>
            <a:off x="457200" y="4069080"/>
            <a:ext cx="2057400" cy="2011680"/>
          </a:xfrm>
          <a:prstGeom prst="rect">
            <a:avLst/>
          </a:prstGeom>
          <a:solidFill>
            <a:srgbClr val="E3F2F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1" name="Shape 23"/>
          <p:cNvSpPr/>
          <p:nvPr/>
        </p:nvSpPr>
        <p:spPr>
          <a:xfrm>
            <a:off x="640080" y="4251960"/>
            <a:ext cx="502920" cy="502920"/>
          </a:xfrm>
          <a:prstGeom prst="ellipse">
            <a:avLst/>
          </a:prstGeom>
          <a:solidFill>
            <a:srgbClr val="1B998B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8952" y="4370832"/>
            <a:ext cx="265176" cy="265176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640080" y="487375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Archetipo</a:t>
            </a:r>
            <a:endParaRPr lang="en-US" sz="1700" dirty="0"/>
          </a:p>
        </p:txBody>
      </p:sp>
      <p:sp>
        <p:nvSpPr>
          <p:cNvPr id="34" name="Text 25"/>
          <p:cNvSpPr txBox="1"/>
          <p:nvPr/>
        </p:nvSpPr>
        <p:spPr>
          <a:xfrm>
            <a:off x="640080" y="52578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Strategia riconoscibile di mazzo, es. Boros Energy.</a:t>
            </a:r>
            <a:endParaRPr lang="en-US" sz="1200" dirty="0"/>
          </a:p>
        </p:txBody>
      </p:sp>
      <p:sp>
        <p:nvSpPr>
          <p:cNvPr id="35" name="Shape 26"/>
          <p:cNvSpPr/>
          <p:nvPr/>
        </p:nvSpPr>
        <p:spPr>
          <a:xfrm>
            <a:off x="2734056" y="4069080"/>
            <a:ext cx="2057400" cy="2011680"/>
          </a:xfrm>
          <a:prstGeom prst="rect">
            <a:avLst/>
          </a:prstGeom>
          <a:solidFill>
            <a:srgbClr val="E3F2F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6" name="Shape 27"/>
          <p:cNvSpPr/>
          <p:nvPr/>
        </p:nvSpPr>
        <p:spPr>
          <a:xfrm>
            <a:off x="2916936" y="4251960"/>
            <a:ext cx="502920" cy="502920"/>
          </a:xfrm>
          <a:prstGeom prst="ellipse">
            <a:avLst/>
          </a:prstGeom>
          <a:solidFill>
            <a:srgbClr val="1B998B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37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35808" y="4370832"/>
            <a:ext cx="265176" cy="265176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2916936" y="487375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Metagame</a:t>
            </a:r>
            <a:endParaRPr lang="en-US" sz="1700" dirty="0"/>
          </a:p>
        </p:txBody>
      </p:sp>
      <p:sp>
        <p:nvSpPr>
          <p:cNvPr id="39" name="Text 29"/>
          <p:cNvSpPr txBox="1"/>
          <p:nvPr/>
        </p:nvSpPr>
        <p:spPr>
          <a:xfrm>
            <a:off x="2916936" y="52578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 di utilizzo di ogni archetipo in un periodo.</a:t>
            </a:r>
            <a:endParaRPr lang="en-US" sz="1200" dirty="0"/>
          </a:p>
        </p:txBody>
      </p:sp>
      <p:sp>
        <p:nvSpPr>
          <p:cNvPr id="40" name="Shape 30"/>
          <p:cNvSpPr/>
          <p:nvPr/>
        </p:nvSpPr>
        <p:spPr>
          <a:xfrm>
            <a:off x="5010912" y="4069080"/>
            <a:ext cx="2057400" cy="2011680"/>
          </a:xfrm>
          <a:prstGeom prst="rect">
            <a:avLst/>
          </a:prstGeom>
          <a:solidFill>
            <a:srgbClr val="E3F2F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1" name="Shape 31"/>
          <p:cNvSpPr/>
          <p:nvPr/>
        </p:nvSpPr>
        <p:spPr>
          <a:xfrm>
            <a:off x="5193792" y="4251960"/>
            <a:ext cx="502920" cy="502920"/>
          </a:xfrm>
          <a:prstGeom prst="ellipse">
            <a:avLst/>
          </a:prstGeom>
          <a:solidFill>
            <a:srgbClr val="1B998B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12664" y="4370832"/>
            <a:ext cx="265176" cy="265176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5193792" y="487375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Winrate</a:t>
            </a:r>
            <a:endParaRPr lang="en-US" sz="1700" dirty="0"/>
          </a:p>
        </p:txBody>
      </p:sp>
      <p:sp>
        <p:nvSpPr>
          <p:cNvPr id="44" name="Text 33"/>
          <p:cNvSpPr txBox="1"/>
          <p:nvPr/>
        </p:nvSpPr>
        <p:spPr>
          <a:xfrm>
            <a:off x="5193792" y="52578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Vittorie / (vittorie + sconfitte). Pareggi esclusi.</a:t>
            </a:r>
            <a:endParaRPr lang="en-US" sz="1200" dirty="0"/>
          </a:p>
        </p:txBody>
      </p:sp>
      <p:sp>
        <p:nvSpPr>
          <p:cNvPr id="45" name="Shape 34"/>
          <p:cNvSpPr/>
          <p:nvPr/>
        </p:nvSpPr>
        <p:spPr>
          <a:xfrm>
            <a:off x="7287768" y="4069080"/>
            <a:ext cx="2057400" cy="2011680"/>
          </a:xfrm>
          <a:prstGeom prst="rect">
            <a:avLst/>
          </a:prstGeom>
          <a:solidFill>
            <a:srgbClr val="E3F2F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6" name="Shape 35"/>
          <p:cNvSpPr/>
          <p:nvPr/>
        </p:nvSpPr>
        <p:spPr>
          <a:xfrm>
            <a:off x="7470648" y="4251960"/>
            <a:ext cx="502920" cy="502920"/>
          </a:xfrm>
          <a:prstGeom prst="ellipse">
            <a:avLst/>
          </a:prstGeom>
          <a:solidFill>
            <a:srgbClr val="1B998B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47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89520" y="4370832"/>
            <a:ext cx="265176" cy="265176"/>
          </a:xfrm>
          <a:prstGeom prst="rect">
            <a:avLst/>
          </a:prstGeom>
        </p:spPr>
      </p:pic>
      <p:sp>
        <p:nvSpPr>
          <p:cNvPr id="48" name="Text 36"/>
          <p:cNvSpPr txBox="1"/>
          <p:nvPr/>
        </p:nvSpPr>
        <p:spPr>
          <a:xfrm>
            <a:off x="7470648" y="487375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Matchup</a:t>
            </a:r>
            <a:endParaRPr lang="en-US" sz="1700" dirty="0"/>
          </a:p>
        </p:txBody>
      </p:sp>
      <p:sp>
        <p:nvSpPr>
          <p:cNvPr id="49" name="Text 37"/>
          <p:cNvSpPr txBox="1"/>
          <p:nvPr/>
        </p:nvSpPr>
        <p:spPr>
          <a:xfrm>
            <a:off x="7470648" y="52578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Scontro tra due archetipi, con il suo winrate.</a:t>
            </a:r>
            <a:endParaRPr lang="en-US" sz="1200" dirty="0"/>
          </a:p>
        </p:txBody>
      </p:sp>
      <p:sp>
        <p:nvSpPr>
          <p:cNvPr id="50" name="Shape 38"/>
          <p:cNvSpPr/>
          <p:nvPr/>
        </p:nvSpPr>
        <p:spPr>
          <a:xfrm>
            <a:off x="9564624" y="4069080"/>
            <a:ext cx="2057400" cy="2011680"/>
          </a:xfrm>
          <a:prstGeom prst="rect">
            <a:avLst/>
          </a:prstGeom>
          <a:solidFill>
            <a:srgbClr val="E3F2F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1" name="Shape 39"/>
          <p:cNvSpPr/>
          <p:nvPr/>
        </p:nvSpPr>
        <p:spPr>
          <a:xfrm>
            <a:off x="9747504" y="4251960"/>
            <a:ext cx="502920" cy="502920"/>
          </a:xfrm>
          <a:prstGeom prst="ellipse">
            <a:avLst/>
          </a:prstGeom>
          <a:solidFill>
            <a:srgbClr val="1B998B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52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866376" y="4370832"/>
            <a:ext cx="265176" cy="265176"/>
          </a:xfrm>
          <a:prstGeom prst="rect">
            <a:avLst/>
          </a:prstGeom>
        </p:spPr>
      </p:pic>
      <p:sp>
        <p:nvSpPr>
          <p:cNvPr id="53" name="Text 40"/>
          <p:cNvSpPr txBox="1"/>
          <p:nvPr/>
        </p:nvSpPr>
        <p:spPr>
          <a:xfrm>
            <a:off x="9747504" y="487375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 95%</a:t>
            </a:r>
            <a:endParaRPr lang="en-US" sz="1700" dirty="0"/>
          </a:p>
        </p:txBody>
      </p:sp>
      <p:sp>
        <p:nvSpPr>
          <p:cNvPr id="54" name="Text 41"/>
          <p:cNvSpPr txBox="1"/>
          <p:nvPr/>
        </p:nvSpPr>
        <p:spPr>
          <a:xfrm>
            <a:off x="9747504" y="52578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Incertezza sul winrate: più piccolo il campione, più largo l'intervallo.</a:t>
            </a:r>
            <a:endParaRPr lang="en-US" sz="1200" dirty="0"/>
          </a:p>
        </p:txBody>
      </p:sp>
      <p:sp>
        <p:nvSpPr>
          <p:cNvPr id="55" name="Text 42"/>
          <p:cNvSpPr txBox="1"/>
          <p:nvPr/>
        </p:nvSpPr>
        <p:spPr>
          <a:xfrm>
            <a:off x="457200" y="14813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REGOLE DEL GIOCO</a:t>
            </a:r>
            <a:endParaRPr lang="en-US" sz="1050" dirty="0"/>
          </a:p>
        </p:txBody>
      </p:sp>
      <p:sp>
        <p:nvSpPr>
          <p:cNvPr id="56" name="Text 43"/>
          <p:cNvSpPr txBox="1"/>
          <p:nvPr/>
        </p:nvSpPr>
        <p:spPr>
          <a:xfrm>
            <a:off x="457200" y="38404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TERMINI USATI NEI GRAFICI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1323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Due fonti complementari: ampiezza storica e profondità competitiva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419088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Fonti: mtggoldfish.com · melee.gg (Decklist, Standings, Player API). Pipeline: Python (requests, pandas, matplotlib).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274552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7830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MTGGoldfish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19456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Decklist e piazzamenti, ago 2020 – 2026 · 63% MTGO, 37% cartaceo</a:t>
            </a:r>
            <a:endParaRPr lang="en-US" sz="1300" dirty="0"/>
          </a:p>
        </p:txBody>
      </p:sp>
      <p:pic>
        <p:nvPicPr>
          <p:cNvPr id="20" name="Image 0" descr="ye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612326"/>
            <a:ext cx="5760720" cy="309638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576072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2026 parziale: il calo riflette la copertura, non meno tornei.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6583680" y="1783080"/>
            <a:ext cx="5148072" cy="4434840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1" name="Text 7"/>
          <p:cNvSpPr txBox="1"/>
          <p:nvPr/>
        </p:nvSpPr>
        <p:spPr>
          <a:xfrm>
            <a:off x="6858000" y="19202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melee.gg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6858000" y="233172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Championship e Spotlight Series, risultato di ogni partita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6858000" y="278892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9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7.129</a:t>
            </a:r>
            <a:endParaRPr lang="en-US" sz="30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0" y="3383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decklist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8458200" y="278892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9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41.716</a:t>
            </a:r>
            <a:endParaRPr lang="en-US" sz="3000" dirty="0"/>
          </a:p>
        </p:txBody>
      </p:sp>
      <p:sp>
        <p:nvSpPr>
          <p:cNvPr id="16" name="Text 12"/>
          <p:cNvSpPr txBox="1"/>
          <p:nvPr/>
        </p:nvSpPr>
        <p:spPr>
          <a:xfrm>
            <a:off x="8458200" y="3383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partite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10058400" y="278892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9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168</a:t>
            </a:r>
            <a:endParaRPr lang="en-US" sz="3000" dirty="0"/>
          </a:p>
        </p:txBody>
      </p:sp>
      <p:sp>
        <p:nvSpPr>
          <p:cNvPr id="18" name="Text 14"/>
          <p:cNvSpPr txBox="1"/>
          <p:nvPr/>
        </p:nvSpPr>
        <p:spPr>
          <a:xfrm>
            <a:off x="10058400" y="3383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tornei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6858000" y="3931920"/>
            <a:ext cx="4663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Esito ricalcolato dal punteggio grezzo di ogni partita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Archetipo collegato unendo decklist e classifiche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Giocatori con nome segnaposto («?????») esclusi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qui è disponibile il record W-L-D: MTGGoldfish fornisce solo il piazzamento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1323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8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 </a:t>
            </a:r>
            <a:r>
              <a:rPr lang="en-US" sz="4800" b="1" dirty="0" err="1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quesiti</a:t>
            </a:r>
            <a:r>
              <a:rPr lang="en-US" sz="48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da </a:t>
            </a:r>
            <a:r>
              <a:rPr lang="en-US" sz="4800" b="1" dirty="0" err="1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analizzare</a:t>
            </a:r>
            <a:r>
              <a:rPr lang="en-US" sz="48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11274552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1828800"/>
            <a:ext cx="3520440" cy="4206240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 txBox="1"/>
          <p:nvPr/>
        </p:nvSpPr>
        <p:spPr>
          <a:xfrm>
            <a:off x="777240" y="210312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7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42900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 gioca cosa?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29768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 archetipi sono più diffusi e come è cambiato il metagame dal 2020 a oggi.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53035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Popolarità per fonte · evoluzione mensile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251960" y="1828800"/>
            <a:ext cx="3520440" cy="4206240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1" name="Text 8"/>
          <p:cNvSpPr txBox="1"/>
          <p:nvPr/>
        </p:nvSpPr>
        <p:spPr>
          <a:xfrm>
            <a:off x="4572000" y="210312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72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342900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Cosa cambia con la banlist?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429768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reagisce il formato ai 9 aggiornamenti della lista delle carte vietate.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0" y="53035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· Era 9 vs Era 10 · piazzamenti per era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046720" y="1828800"/>
            <a:ext cx="3520440" cy="4206240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6" name="Text 13"/>
          <p:cNvSpPr txBox="1"/>
          <p:nvPr/>
        </p:nvSpPr>
        <p:spPr>
          <a:xfrm>
            <a:off x="8366760" y="210312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7200" dirty="0"/>
          </a:p>
        </p:txBody>
      </p:sp>
      <p:sp>
        <p:nvSpPr>
          <p:cNvPr id="17" name="Text 14"/>
          <p:cNvSpPr txBox="1"/>
          <p:nvPr/>
        </p:nvSpPr>
        <p:spPr>
          <a:xfrm>
            <a:off x="8366760" y="342900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 vince davvero?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8366760" y="429768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 archetipi hanno un winrate superiore al 50% in modo statisticamente affidabile.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366760" y="53035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Winrate con IC 95% · matchup · confronto Pro Tour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22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0" dirty="0"/>
          </a:p>
        </p:txBody>
      </p:sp>
      <p:sp>
        <p:nvSpPr>
          <p:cNvPr id="3" name="Text 1"/>
          <p:cNvSpPr txBox="1"/>
          <p:nvPr/>
        </p:nvSpPr>
        <p:spPr>
          <a:xfrm>
            <a:off x="3566160" y="201168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 gioca cosa?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3566160" y="320040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Popolarità degli archetipi nelle due fonti e la loro evoluzione dal 2020.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274320" cy="274320"/>
          </a:xfrm>
          <a:prstGeom prst="ellipse">
            <a:avLst/>
          </a:prstGeom>
          <a:solidFill>
            <a:srgbClr val="1C223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41248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GIOCA COSA?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1323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Boros Energy è il mazzo più giocato in entrambe le fonti, ma nei Regional il suo vantaggio si riduce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19088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Fonti: MTGGoldfish, melee.gg · stessa finestra feb 2025 – ago 2026 · archetipi presenti nella top 15 di entrambe le fonti.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274552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pic>
        <p:nvPicPr>
          <p:cNvPr id="16" name="Image 0" descr="p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09945"/>
            <a:ext cx="7315200" cy="447255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138160" y="1783080"/>
            <a:ext cx="3593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0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12,3 vs 7,3%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8138160" y="2331720"/>
            <a:ext cx="3593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Boros Energy: online è quasi il doppio del secondo mazzo, dal vivo il distacco è minore.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8138160" y="3246120"/>
            <a:ext cx="3593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000" b="1" dirty="0">
                <a:solidFill>
                  <a:srgbClr val="1B9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×1,9</a:t>
            </a:r>
            <a:endParaRPr lang="en-US" sz="3000" dirty="0"/>
          </a:p>
        </p:txBody>
      </p:sp>
      <p:sp>
        <p:nvSpPr>
          <p:cNvPr id="13" name="Text 9"/>
          <p:cNvSpPr txBox="1"/>
          <p:nvPr/>
        </p:nvSpPr>
        <p:spPr>
          <a:xfrm>
            <a:off x="8138160" y="3794760"/>
            <a:ext cx="3593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Jeskai Blink è quasi due volte più presente nei Regional (5,3% vs 2,8%).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8138160" y="4709160"/>
            <a:ext cx="3593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0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÷3,3</a:t>
            </a:r>
            <a:endParaRPr lang="en-US" sz="3000" dirty="0"/>
          </a:p>
        </p:txBody>
      </p:sp>
      <p:sp>
        <p:nvSpPr>
          <p:cNvPr id="15" name="Text 11"/>
          <p:cNvSpPr txBox="1"/>
          <p:nvPr/>
        </p:nvSpPr>
        <p:spPr>
          <a:xfrm>
            <a:off x="8138160" y="5257800"/>
            <a:ext cx="3593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Eldrazi Tron fa il percorso opposto: 4,3% online, 1,3% dal vivo.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274320" cy="274320"/>
          </a:xfrm>
          <a:prstGeom prst="ellipse">
            <a:avLst/>
          </a:prstGeom>
          <a:solidFill>
            <a:srgbClr val="1C223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41248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GIOCA COSA?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1323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Boros Energy ha toccato il 25% del metagame: </a:t>
            </a:r>
            <a:r>
              <a:rPr lang="en-US" sz="2500" b="1" dirty="0" err="1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nessun</a:t>
            </a:r>
            <a:r>
              <a:rPr lang="en-US" sz="25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500" b="1" dirty="0" err="1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altro</a:t>
            </a:r>
            <a:r>
              <a:rPr lang="en-US" sz="25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500" b="1" dirty="0" err="1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archetipo</a:t>
            </a:r>
            <a:r>
              <a:rPr lang="en-US" sz="25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di punta dal 2020 aveva superato il 18%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19088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MTGGoldfish (storico) + melee.gg (dal 2025, nomi degli archetipi riconciliati). Quota mensile delle decklist.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274552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pic>
        <p:nvPicPr>
          <p:cNvPr id="10" name="Image 0" descr="ev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225" y="1737360"/>
            <a:ext cx="108585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22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0" dirty="0"/>
          </a:p>
        </p:txBody>
      </p:sp>
      <p:sp>
        <p:nvSpPr>
          <p:cNvPr id="3" name="Text 1"/>
          <p:cNvSpPr txBox="1"/>
          <p:nvPr/>
        </p:nvSpPr>
        <p:spPr>
          <a:xfrm>
            <a:off x="3566160" y="201168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Cosa cambia con la banlist?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3566160" y="320040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 aggiornamenti in cinque anni: come si sposta il metagame quando una carta viene vietata.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274320" cy="274320"/>
          </a:xfrm>
          <a:prstGeom prst="ellipse">
            <a:avLst/>
          </a:prstGeom>
          <a:solidFill>
            <a:srgbClr val="1C223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41248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CAMBIA CON LA BANLIST?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1323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Nove aggiornamenti della banlist in cinque anni hanno ridisegnato il formato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19088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magic.wizards.com, annunci ufficiali Banned &amp; Restricted (motivazioni sintetizzate).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274552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3977640"/>
            <a:ext cx="11274552" cy="0"/>
          </a:xfrm>
          <a:prstGeom prst="line">
            <a:avLst/>
          </a:prstGeom>
          <a:noFill/>
          <a:ln w="31750">
            <a:solidFill>
              <a:srgbClr val="A7AD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Shape 7"/>
          <p:cNvSpPr/>
          <p:nvPr/>
        </p:nvSpPr>
        <p:spPr>
          <a:xfrm>
            <a:off x="722376" y="3877056"/>
            <a:ext cx="201168" cy="201168"/>
          </a:xfrm>
          <a:prstGeom prst="ellipse">
            <a:avLst/>
          </a:prstGeom>
          <a:solidFill>
            <a:srgbClr val="1C2233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Shape 8"/>
          <p:cNvSpPr/>
          <p:nvPr/>
        </p:nvSpPr>
        <p:spPr>
          <a:xfrm>
            <a:off x="822960" y="3474720"/>
            <a:ext cx="0" cy="393192"/>
          </a:xfrm>
          <a:prstGeom prst="line">
            <a:avLst/>
          </a:prstGeom>
          <a:noFill/>
          <a:ln w="12700">
            <a:solidFill>
              <a:srgbClr val="1C223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9"/>
          <p:cNvSpPr txBox="1"/>
          <p:nvPr/>
        </p:nvSpPr>
        <p:spPr>
          <a:xfrm>
            <a:off x="457200" y="3200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15.02.21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1828800"/>
            <a:ext cx="2011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of the Dead, Uro e altre</a:t>
            </a:r>
            <a:endParaRPr lang="en-US" sz="135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Partite ripetitive; Uro troppo efficiente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2036826" y="3877056"/>
            <a:ext cx="201168" cy="201168"/>
          </a:xfrm>
          <a:prstGeom prst="ellipse">
            <a:avLst/>
          </a:prstGeom>
          <a:solidFill>
            <a:srgbClr val="1C2233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Shape 12"/>
          <p:cNvSpPr/>
          <p:nvPr/>
        </p:nvSpPr>
        <p:spPr>
          <a:xfrm>
            <a:off x="2137410" y="4087368"/>
            <a:ext cx="0" cy="393192"/>
          </a:xfrm>
          <a:prstGeom prst="line">
            <a:avLst/>
          </a:prstGeom>
          <a:noFill/>
          <a:ln w="12700">
            <a:solidFill>
              <a:srgbClr val="1C223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3"/>
          <p:cNvSpPr txBox="1"/>
          <p:nvPr/>
        </p:nvSpPr>
        <p:spPr>
          <a:xfrm>
            <a:off x="1131570" y="44805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07.03.22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131570" y="4846320"/>
            <a:ext cx="2011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Lurrus</a:t>
            </a:r>
            <a:endParaRPr lang="en-US" sz="135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 31% dei mazzi vincenti online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3351276" y="3877056"/>
            <a:ext cx="201168" cy="201168"/>
          </a:xfrm>
          <a:prstGeom prst="ellipse">
            <a:avLst/>
          </a:prstGeom>
          <a:solidFill>
            <a:srgbClr val="1C2233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Shape 16"/>
          <p:cNvSpPr/>
          <p:nvPr/>
        </p:nvSpPr>
        <p:spPr>
          <a:xfrm>
            <a:off x="3451860" y="3474720"/>
            <a:ext cx="0" cy="393192"/>
          </a:xfrm>
          <a:prstGeom prst="line">
            <a:avLst/>
          </a:prstGeom>
          <a:noFill/>
          <a:ln w="12700">
            <a:solidFill>
              <a:srgbClr val="1C223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7"/>
          <p:cNvSpPr txBox="1"/>
          <p:nvPr/>
        </p:nvSpPr>
        <p:spPr>
          <a:xfrm>
            <a:off x="2446020" y="3200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10.10.22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2446020" y="1828800"/>
            <a:ext cx="2011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Yorion</a:t>
            </a:r>
            <a:endParaRPr lang="en-US" sz="135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Partite lunghe con mazzi da 80 carte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4665726" y="3877056"/>
            <a:ext cx="201168" cy="201168"/>
          </a:xfrm>
          <a:prstGeom prst="ellipse">
            <a:avLst/>
          </a:prstGeom>
          <a:solidFill>
            <a:srgbClr val="1C2233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Shape 20"/>
          <p:cNvSpPr/>
          <p:nvPr/>
        </p:nvSpPr>
        <p:spPr>
          <a:xfrm>
            <a:off x="4766310" y="4087368"/>
            <a:ext cx="0" cy="393192"/>
          </a:xfrm>
          <a:prstGeom prst="line">
            <a:avLst/>
          </a:prstGeom>
          <a:noFill/>
          <a:ln w="12700">
            <a:solidFill>
              <a:srgbClr val="1C223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Text 21"/>
          <p:cNvSpPr txBox="1"/>
          <p:nvPr/>
        </p:nvSpPr>
        <p:spPr>
          <a:xfrm>
            <a:off x="3760470" y="44805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07.08.23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3760470" y="4846320"/>
            <a:ext cx="2011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Preordain (sbannata)</a:t>
            </a:r>
            <a:endParaRPr lang="en-US" sz="135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Rinforzare i mazzi blu «fair»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5980176" y="3877056"/>
            <a:ext cx="201168" cy="201168"/>
          </a:xfrm>
          <a:prstGeom prst="ellipse">
            <a:avLst/>
          </a:prstGeom>
          <a:solidFill>
            <a:srgbClr val="1C2233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Shape 24"/>
          <p:cNvSpPr/>
          <p:nvPr/>
        </p:nvSpPr>
        <p:spPr>
          <a:xfrm>
            <a:off x="6080760" y="3474720"/>
            <a:ext cx="0" cy="393192"/>
          </a:xfrm>
          <a:prstGeom prst="line">
            <a:avLst/>
          </a:prstGeom>
          <a:noFill/>
          <a:ln w="12700">
            <a:solidFill>
              <a:srgbClr val="1C223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8" name="Text 25"/>
          <p:cNvSpPr txBox="1"/>
          <p:nvPr/>
        </p:nvSpPr>
        <p:spPr>
          <a:xfrm>
            <a:off x="5074920" y="3200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04.12.23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5074920" y="1828800"/>
            <a:ext cx="2011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Fury, Up the Beanstalk</a:t>
            </a:r>
            <a:endParaRPr lang="en-US" sz="135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Fury rendeva ingiocabili le creature</a:t>
            </a:r>
            <a:endParaRPr lang="en-US" sz="1350" dirty="0"/>
          </a:p>
        </p:txBody>
      </p:sp>
      <p:sp>
        <p:nvSpPr>
          <p:cNvPr id="30" name="Shape 27"/>
          <p:cNvSpPr/>
          <p:nvPr/>
        </p:nvSpPr>
        <p:spPr>
          <a:xfrm>
            <a:off x="7294626" y="3877056"/>
            <a:ext cx="201168" cy="201168"/>
          </a:xfrm>
          <a:prstGeom prst="ellipse">
            <a:avLst/>
          </a:prstGeom>
          <a:solidFill>
            <a:srgbClr val="1C2233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1" name="Shape 28"/>
          <p:cNvSpPr/>
          <p:nvPr/>
        </p:nvSpPr>
        <p:spPr>
          <a:xfrm>
            <a:off x="7395210" y="4087368"/>
            <a:ext cx="0" cy="393192"/>
          </a:xfrm>
          <a:prstGeom prst="line">
            <a:avLst/>
          </a:prstGeom>
          <a:noFill/>
          <a:ln w="12700">
            <a:solidFill>
              <a:srgbClr val="1C223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2" name="Text 29"/>
          <p:cNvSpPr txBox="1"/>
          <p:nvPr/>
        </p:nvSpPr>
        <p:spPr>
          <a:xfrm>
            <a:off x="6389370" y="44805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11.03.24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6389370" y="4846320"/>
            <a:ext cx="2011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Violent Outburst</a:t>
            </a:r>
            <a:endParaRPr lang="en-US" sz="135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Frenare Temur Rhinos</a:t>
            </a:r>
            <a:endParaRPr lang="en-US" sz="1350" dirty="0"/>
          </a:p>
        </p:txBody>
      </p:sp>
      <p:sp>
        <p:nvSpPr>
          <p:cNvPr id="34" name="Shape 31"/>
          <p:cNvSpPr/>
          <p:nvPr/>
        </p:nvSpPr>
        <p:spPr>
          <a:xfrm>
            <a:off x="8609076" y="3877056"/>
            <a:ext cx="201168" cy="201168"/>
          </a:xfrm>
          <a:prstGeom prst="ellipse">
            <a:avLst/>
          </a:prstGeom>
          <a:solidFill>
            <a:srgbClr val="1C2233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5" name="Shape 32"/>
          <p:cNvSpPr/>
          <p:nvPr/>
        </p:nvSpPr>
        <p:spPr>
          <a:xfrm>
            <a:off x="8709660" y="3474720"/>
            <a:ext cx="0" cy="393192"/>
          </a:xfrm>
          <a:prstGeom prst="line">
            <a:avLst/>
          </a:prstGeom>
          <a:noFill/>
          <a:ln w="12700">
            <a:solidFill>
              <a:srgbClr val="1C223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6" name="Text 33"/>
          <p:cNvSpPr txBox="1"/>
          <p:nvPr/>
        </p:nvSpPr>
        <p:spPr>
          <a:xfrm>
            <a:off x="7703820" y="3200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16.12.24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7703820" y="1828800"/>
            <a:ext cx="2011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Ring, Amped Raptor, Jegantha</a:t>
            </a:r>
            <a:endParaRPr lang="en-US" sz="135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Jegantha nel 40% dei mazzi; 4 carte sbannate</a:t>
            </a:r>
            <a:endParaRPr lang="en-US" sz="1350" dirty="0"/>
          </a:p>
        </p:txBody>
      </p:sp>
      <p:sp>
        <p:nvSpPr>
          <p:cNvPr id="38" name="Shape 35"/>
          <p:cNvSpPr/>
          <p:nvPr/>
        </p:nvSpPr>
        <p:spPr>
          <a:xfrm>
            <a:off x="9923526" y="3877056"/>
            <a:ext cx="201168" cy="201168"/>
          </a:xfrm>
          <a:prstGeom prst="ellipse">
            <a:avLst/>
          </a:prstGeom>
          <a:solidFill>
            <a:srgbClr val="1C2233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9" name="Shape 36"/>
          <p:cNvSpPr/>
          <p:nvPr/>
        </p:nvSpPr>
        <p:spPr>
          <a:xfrm>
            <a:off x="10024110" y="4087368"/>
            <a:ext cx="0" cy="393192"/>
          </a:xfrm>
          <a:prstGeom prst="line">
            <a:avLst/>
          </a:prstGeom>
          <a:noFill/>
          <a:ln w="12700">
            <a:solidFill>
              <a:srgbClr val="1C223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0" name="Text 37"/>
          <p:cNvSpPr txBox="1"/>
          <p:nvPr/>
        </p:nvSpPr>
        <p:spPr>
          <a:xfrm>
            <a:off x="9018270" y="44805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31.03.25</a:t>
            </a:r>
            <a:endParaRPr lang="en-US" sz="1600" dirty="0"/>
          </a:p>
        </p:txBody>
      </p:sp>
      <p:sp>
        <p:nvSpPr>
          <p:cNvPr id="41" name="Text 38"/>
          <p:cNvSpPr txBox="1"/>
          <p:nvPr/>
        </p:nvSpPr>
        <p:spPr>
          <a:xfrm>
            <a:off x="9018270" y="4846320"/>
            <a:ext cx="2011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Underworld Breach</a:t>
            </a:r>
            <a:endParaRPr lang="en-US" sz="135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Combo letali già dal turno 2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11237976" y="3877056"/>
            <a:ext cx="201168" cy="201168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3" name="Shape 40"/>
          <p:cNvSpPr/>
          <p:nvPr/>
        </p:nvSpPr>
        <p:spPr>
          <a:xfrm>
            <a:off x="11338560" y="3474720"/>
            <a:ext cx="0" cy="393192"/>
          </a:xfrm>
          <a:prstGeom prst="line">
            <a:avLst/>
          </a:prstGeom>
          <a:noFill/>
          <a:ln w="12700">
            <a:solidFill>
              <a:srgbClr val="E4572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4" name="Text 41"/>
          <p:cNvSpPr txBox="1"/>
          <p:nvPr/>
        </p:nvSpPr>
        <p:spPr>
          <a:xfrm>
            <a:off x="9720072" y="3200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18.05.26</a:t>
            </a:r>
            <a:endParaRPr lang="en-US" sz="1600" dirty="0"/>
          </a:p>
        </p:txBody>
      </p:sp>
      <p:sp>
        <p:nvSpPr>
          <p:cNvPr id="45" name="Text 42"/>
          <p:cNvSpPr txBox="1"/>
          <p:nvPr/>
        </p:nvSpPr>
        <p:spPr>
          <a:xfrm>
            <a:off x="9720072" y="1828800"/>
            <a:ext cx="2011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Phlage, Lotus Field</a:t>
            </a:r>
            <a:endParaRPr lang="en-US" sz="135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Phlage dominava Boros e Jeskai; 2 carte sbannate</a:t>
            </a:r>
            <a:endParaRPr lang="en-US" sz="1350" dirty="0"/>
          </a:p>
        </p:txBody>
      </p:sp>
      <p:sp>
        <p:nvSpPr>
          <p:cNvPr id="46" name="Text 43"/>
          <p:cNvSpPr txBox="1"/>
          <p:nvPr/>
        </p:nvSpPr>
        <p:spPr>
          <a:xfrm>
            <a:off x="1114425" y="403250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 2</a:t>
            </a:r>
            <a:endParaRPr lang="en-US" sz="900" dirty="0"/>
          </a:p>
        </p:txBody>
      </p:sp>
      <p:sp>
        <p:nvSpPr>
          <p:cNvPr id="47" name="Text 44"/>
          <p:cNvSpPr txBox="1"/>
          <p:nvPr/>
        </p:nvSpPr>
        <p:spPr>
          <a:xfrm>
            <a:off x="2428875" y="403250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 3</a:t>
            </a:r>
            <a:endParaRPr lang="en-US" sz="900" dirty="0"/>
          </a:p>
        </p:txBody>
      </p:sp>
      <p:sp>
        <p:nvSpPr>
          <p:cNvPr id="48" name="Text 45"/>
          <p:cNvSpPr txBox="1"/>
          <p:nvPr/>
        </p:nvSpPr>
        <p:spPr>
          <a:xfrm>
            <a:off x="3743325" y="403250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 4</a:t>
            </a:r>
            <a:endParaRPr lang="en-US" sz="900" dirty="0"/>
          </a:p>
        </p:txBody>
      </p:sp>
      <p:sp>
        <p:nvSpPr>
          <p:cNvPr id="49" name="Text 46"/>
          <p:cNvSpPr txBox="1"/>
          <p:nvPr/>
        </p:nvSpPr>
        <p:spPr>
          <a:xfrm>
            <a:off x="5057775" y="403250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 5</a:t>
            </a:r>
            <a:endParaRPr lang="en-US" sz="900" dirty="0"/>
          </a:p>
        </p:txBody>
      </p:sp>
      <p:sp>
        <p:nvSpPr>
          <p:cNvPr id="50" name="Text 47"/>
          <p:cNvSpPr txBox="1"/>
          <p:nvPr/>
        </p:nvSpPr>
        <p:spPr>
          <a:xfrm>
            <a:off x="6372225" y="403250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 6</a:t>
            </a:r>
            <a:endParaRPr lang="en-US" sz="900" dirty="0"/>
          </a:p>
        </p:txBody>
      </p:sp>
      <p:sp>
        <p:nvSpPr>
          <p:cNvPr id="51" name="Text 48"/>
          <p:cNvSpPr txBox="1"/>
          <p:nvPr/>
        </p:nvSpPr>
        <p:spPr>
          <a:xfrm>
            <a:off x="7686675" y="403250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 7</a:t>
            </a:r>
            <a:endParaRPr lang="en-US" sz="900" dirty="0"/>
          </a:p>
        </p:txBody>
      </p:sp>
      <p:sp>
        <p:nvSpPr>
          <p:cNvPr id="52" name="Text 49"/>
          <p:cNvSpPr txBox="1"/>
          <p:nvPr/>
        </p:nvSpPr>
        <p:spPr>
          <a:xfrm>
            <a:off x="9001125" y="403250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 8</a:t>
            </a:r>
            <a:endParaRPr lang="en-US" sz="900" dirty="0"/>
          </a:p>
        </p:txBody>
      </p:sp>
      <p:sp>
        <p:nvSpPr>
          <p:cNvPr id="53" name="Text 50"/>
          <p:cNvSpPr txBox="1"/>
          <p:nvPr/>
        </p:nvSpPr>
        <p:spPr>
          <a:xfrm>
            <a:off x="10315575" y="403250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 9</a:t>
            </a:r>
            <a:endParaRPr lang="en-US" sz="900" dirty="0"/>
          </a:p>
        </p:txBody>
      </p:sp>
      <p:sp>
        <p:nvSpPr>
          <p:cNvPr id="54" name="Text 51"/>
          <p:cNvSpPr txBox="1"/>
          <p:nvPr/>
        </p:nvSpPr>
        <p:spPr>
          <a:xfrm>
            <a:off x="11064240" y="4032504"/>
            <a:ext cx="667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1323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it-IT" sz="2500" b="1" dirty="0" err="1">
                <a:solidFill>
                  <a:srgbClr val="1C2233"/>
                </a:solidFill>
                <a:latin typeface="Cambria" pitchFamily="34" charset="0"/>
                <a:ea typeface="Cambria" pitchFamily="34" charset="-122"/>
              </a:rPr>
              <a:t>Phlage</a:t>
            </a:r>
            <a:r>
              <a:rPr lang="it-IT" sz="25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</a:rPr>
              <a:t>, Titan of </a:t>
            </a:r>
            <a:r>
              <a:rPr lang="it-IT" sz="2500" b="1" dirty="0" err="1">
                <a:solidFill>
                  <a:srgbClr val="1C2233"/>
                </a:solidFill>
                <a:latin typeface="Cambria" pitchFamily="34" charset="0"/>
                <a:ea typeface="Cambria" pitchFamily="34" charset="-122"/>
              </a:rPr>
              <a:t>Fire’s</a:t>
            </a:r>
            <a:r>
              <a:rPr lang="it-IT" sz="25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</a:rPr>
              <a:t> </a:t>
            </a:r>
            <a:r>
              <a:rPr lang="it-IT" sz="2500" b="1" dirty="0" err="1">
                <a:solidFill>
                  <a:srgbClr val="1C2233"/>
                </a:solidFill>
                <a:latin typeface="Cambria" pitchFamily="34" charset="0"/>
                <a:ea typeface="Cambria" pitchFamily="34" charset="-122"/>
              </a:rPr>
              <a:t>fury</a:t>
            </a:r>
            <a:r>
              <a:rPr lang="it-IT" sz="25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</a:rPr>
              <a:t> era in un mazzo su otto prima del </a:t>
            </a:r>
            <a:r>
              <a:rPr lang="it-IT" sz="2500" b="1" dirty="0" err="1">
                <a:solidFill>
                  <a:srgbClr val="1C2233"/>
                </a:solidFill>
                <a:latin typeface="Cambria" pitchFamily="34" charset="0"/>
                <a:ea typeface="Cambria" pitchFamily="34" charset="-122"/>
              </a:rPr>
              <a:t>ban</a:t>
            </a:r>
            <a:r>
              <a:rPr lang="it-IT" sz="25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</a:rPr>
              <a:t>: 10° carta più giocata del formato</a:t>
            </a:r>
            <a:endParaRPr lang="en-US" sz="2500" b="1" dirty="0">
              <a:solidFill>
                <a:srgbClr val="1C2233"/>
              </a:solidFill>
              <a:latin typeface="Cambria" pitchFamily="34" charset="0"/>
              <a:ea typeface="Cambria" pitchFamily="34" charset="-122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6419088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MTGGoldfish + melee.gg, 188.911 mazzi · quota di mazzi che includono la carta (non numero di copie) · terre escluse.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274552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pic>
        <p:nvPicPr>
          <p:cNvPr id="7" name="Image 0" descr="ca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759" y="1737360"/>
            <a:ext cx="11165433" cy="46177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274320" cy="274320"/>
          </a:xfrm>
          <a:prstGeom prst="ellipse">
            <a:avLst/>
          </a:prstGeom>
          <a:solidFill>
            <a:srgbClr val="1C223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41248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CAMBIA CON LA BANLIST?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1323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Dopo il ban di Phlage, Jeskai Blink quasi scompare e Boros Energy perde 6,4 punti di quota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19088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MTGGoldfish (campione più ampio di melee.gg). Quota delle decklist per era; mostrati i 15 archetipi principali di ciascuna era.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274552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pic>
        <p:nvPicPr>
          <p:cNvPr id="18" name="Image 0" descr="ban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783080"/>
            <a:ext cx="6762059" cy="457191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138160" y="1783080"/>
            <a:ext cx="3593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0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−3,9 p.p.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8138160" y="2331720"/>
            <a:ext cx="3593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Jeskai Blink: dal 4,2% allo 0,3%. È il calo relativo più netto (−94%).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8138160" y="3246120"/>
            <a:ext cx="3593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0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−6,4 p.p.</a:t>
            </a:r>
            <a:endParaRPr lang="en-US" sz="3000" dirty="0"/>
          </a:p>
        </p:txBody>
      </p:sp>
      <p:sp>
        <p:nvSpPr>
          <p:cNvPr id="13" name="Text 9"/>
          <p:cNvSpPr txBox="1"/>
          <p:nvPr/>
        </p:nvSpPr>
        <p:spPr>
          <a:xfrm>
            <a:off x="8138160" y="3794760"/>
            <a:ext cx="3593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Boros Energy resta primo (8,6%) ma perde quasi metà della sua quota.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8138160" y="4526280"/>
            <a:ext cx="3593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000" b="1" dirty="0">
                <a:solidFill>
                  <a:srgbClr val="1B9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+3,0 p.p.</a:t>
            </a:r>
            <a:endParaRPr lang="en-US" sz="3000" dirty="0"/>
          </a:p>
        </p:txBody>
      </p:sp>
      <p:sp>
        <p:nvSpPr>
          <p:cNvPr id="15" name="Text 11"/>
          <p:cNvSpPr txBox="1"/>
          <p:nvPr/>
        </p:nvSpPr>
        <p:spPr>
          <a:xfrm>
            <a:off x="8138160" y="5138928"/>
            <a:ext cx="3593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Goryo's Vengeance è il principale beneficiario, seguito dai mazzi Eldrazi.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7946136" y="5934456"/>
            <a:ext cx="3593592" cy="658368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7" name="Text 13"/>
          <p:cNvSpPr txBox="1"/>
          <p:nvPr/>
        </p:nvSpPr>
        <p:spPr>
          <a:xfrm>
            <a:off x="8083296" y="5829300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L'Era 10 dura finora 3 mesi contro i 14 dell'Era 9: le quote recenti sono meno stabili.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274320" cy="274320"/>
          </a:xfrm>
          <a:prstGeom prst="ellipse">
            <a:avLst/>
          </a:prstGeom>
          <a:solidFill>
            <a:srgbClr val="1C223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41248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CAMBIA CON LA BANLIST?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1323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parità di durata, Boros Energy guida dall'Era 7; nell'Era 10 Affinity e Goryo's lo raggiungono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19088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MTGGoldfish, solo tornei MTGO (Modern Challenge, Preliminary): unica fonte con un piazzamento confrontabile. Ere 1–3 non tracciate.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274552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pic>
        <p:nvPicPr>
          <p:cNvPr id="18" name="Image 0" descr="top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64882"/>
            <a:ext cx="7498080" cy="4481461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138160" y="1783080"/>
            <a:ext cx="3593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0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3–14 mesi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8138160" y="2331720"/>
            <a:ext cx="3593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ere hanno durate molto diverse: i conteggi grezzi non sono confrontabili tra loro.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8138160" y="3246120"/>
            <a:ext cx="3593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000" b="1" dirty="0">
                <a:solidFill>
                  <a:srgbClr val="1B9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32,7 / mese</a:t>
            </a:r>
            <a:endParaRPr lang="en-US" sz="3000" dirty="0"/>
          </a:p>
        </p:txBody>
      </p:sp>
      <p:sp>
        <p:nvSpPr>
          <p:cNvPr id="13" name="Text 9"/>
          <p:cNvSpPr txBox="1"/>
          <p:nvPr/>
        </p:nvSpPr>
        <p:spPr>
          <a:xfrm>
            <a:off x="8138160" y="3794760"/>
            <a:ext cx="3593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Boros Energy nell'Era 9: il valore più alto di tutta la serie.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8138160" y="4709160"/>
            <a:ext cx="3593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0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22,4 / mese</a:t>
            </a:r>
            <a:endParaRPr lang="en-US" sz="3000" dirty="0"/>
          </a:p>
        </p:txBody>
      </p:sp>
      <p:sp>
        <p:nvSpPr>
          <p:cNvPr id="15" name="Text 11"/>
          <p:cNvSpPr txBox="1"/>
          <p:nvPr/>
        </p:nvSpPr>
        <p:spPr>
          <a:xfrm>
            <a:off x="8138160" y="5257800"/>
            <a:ext cx="3593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Yawgmoth nell'Era 6: il riferimento prima dell'arrivo di Boros Energy.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8091424" y="5838444"/>
            <a:ext cx="3456432" cy="685800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7" name="Text 13"/>
          <p:cNvSpPr txBox="1"/>
          <p:nvPr/>
        </p:nvSpPr>
        <p:spPr>
          <a:xfrm>
            <a:off x="8138160" y="5724144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Valori = piazzamenti in top 3 al mese. </a:t>
            </a:r>
          </a:p>
          <a:p>
            <a:pPr marL="0" indent="0">
              <a:buNone/>
            </a:pPr>
            <a:r>
              <a:rPr lang="en-US" sz="1100" dirty="0" err="1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Riquadro</a:t>
            </a:r>
            <a:r>
              <a:rPr lang="en-US" sz="11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arancione = archetipo più presente in quella era.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274320" cy="274320"/>
          </a:xfrm>
          <a:prstGeom prst="ellipse">
            <a:avLst/>
          </a:prstGeom>
          <a:solidFill>
            <a:srgbClr val="1C223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41248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CAMBIA CON LA BANLIST?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1323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Violent Outburst torna quasi solo in Living End, ma il winrate non cambia in modo significativo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19088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melee.gg, decklist successive all'unban del 18.05.26 · winrate su tutte le varianti colore di Living End, IC 95% di Wilson.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274552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pic>
        <p:nvPicPr>
          <p:cNvPr id="16" name="Image 0" descr="outbur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959752"/>
            <a:ext cx="4937760" cy="3670015"/>
          </a:xfrm>
          <a:prstGeom prst="rect">
            <a:avLst/>
          </a:prstGeom>
        </p:spPr>
      </p:pic>
      <p:pic>
        <p:nvPicPr>
          <p:cNvPr id="15" name="Image 0" descr="liv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1958926"/>
            <a:ext cx="3200400" cy="376310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778240" y="178308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0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 su 37</a:t>
            </a:r>
            <a:endParaRPr lang="en-US" sz="3000" dirty="0"/>
          </a:p>
        </p:txBody>
      </p:sp>
      <p:sp>
        <p:nvSpPr>
          <p:cNvPr id="12" name="Text 7"/>
          <p:cNvSpPr txBox="1"/>
          <p:nvPr/>
        </p:nvSpPr>
        <p:spPr>
          <a:xfrm>
            <a:off x="8778240" y="2331720"/>
            <a:ext cx="2953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decklist con Violent Outburst sono Living End (59%).</a:t>
            </a:r>
            <a:endParaRPr lang="en-US" sz="1350" dirty="0"/>
          </a:p>
        </p:txBody>
      </p:sp>
      <p:sp>
        <p:nvSpPr>
          <p:cNvPr id="13" name="Text 8"/>
          <p:cNvSpPr txBox="1"/>
          <p:nvPr/>
        </p:nvSpPr>
        <p:spPr>
          <a:xfrm>
            <a:off x="8778240" y="324612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000" b="1" dirty="0">
                <a:solidFill>
                  <a:srgbClr val="A7AD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+3,3 p.p.</a:t>
            </a:r>
            <a:endParaRPr lang="en-US" sz="3000" dirty="0"/>
          </a:p>
        </p:txBody>
      </p:sp>
      <p:sp>
        <p:nvSpPr>
          <p:cNvPr id="14" name="Text 9"/>
          <p:cNvSpPr txBox="1"/>
          <p:nvPr/>
        </p:nvSpPr>
        <p:spPr>
          <a:xfrm>
            <a:off x="8778240" y="3794760"/>
            <a:ext cx="2953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Winrate da 48,6% a 51,9%: differenza non significativa, IC sovrapposti.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C22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0" dirty="0"/>
          </a:p>
        </p:txBody>
      </p:sp>
      <p:sp>
        <p:nvSpPr>
          <p:cNvPr id="3" name="Text 1"/>
          <p:cNvSpPr txBox="1"/>
          <p:nvPr/>
        </p:nvSpPr>
        <p:spPr>
          <a:xfrm>
            <a:off x="3566160" y="201168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 vince davvero?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3566160" y="320040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Winrate con intervalli di confidenza, matchup diretti e il confronto con il Pro Tour.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274320" cy="274320"/>
          </a:xfrm>
          <a:prstGeom prst="ellipse">
            <a:avLst/>
          </a:prstGeom>
          <a:solidFill>
            <a:srgbClr val="1C223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41248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VINCE DAVVERO?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1323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 archetipi vincono più del 50% in modo significativo; Izzet Prowess, secondo ai Regionals, è l'unico sotto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19088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melee.gg Regional Championship · archetipi con almeno 300 partite decise · pareggi esclusi · IC 95% di Wilson.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274552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pic>
        <p:nvPicPr>
          <p:cNvPr id="16" name="Image 0" descr="fo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84" y="1737360"/>
            <a:ext cx="7186649" cy="46177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29600" y="1783080"/>
            <a:ext cx="3502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000" b="1" dirty="0">
                <a:solidFill>
                  <a:srgbClr val="1B9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8229600" y="2331720"/>
            <a:ext cx="3502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archetipi con IC interamente sopra il 50%, da Simic Birthing Ritual (57,3%) a Jeskai Blink (52,6%).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8229600" y="3246120"/>
            <a:ext cx="3502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0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13" name="Text 9"/>
          <p:cNvSpPr txBox="1"/>
          <p:nvPr/>
        </p:nvSpPr>
        <p:spPr>
          <a:xfrm>
            <a:off x="8229600" y="3794760"/>
            <a:ext cx="3502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Izzet Prowess è sotto in modo significativo (47,7%, 2.692 partite), pur essendo il 2° mazzo più giocato.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8229600" y="5257800"/>
            <a:ext cx="3502152" cy="1005840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5" name="Text 11"/>
          <p:cNvSpPr txBox="1"/>
          <p:nvPr/>
        </p:nvSpPr>
        <p:spPr>
          <a:xfrm>
            <a:off x="8366760" y="5303520"/>
            <a:ext cx="3227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Grigio = l'intervallo include il 50%: con questi dati non si può dire se il mazzo sia sopra o sotto la media.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274320" cy="274320"/>
          </a:xfrm>
          <a:prstGeom prst="ellipse">
            <a:avLst/>
          </a:prstGeom>
          <a:solidFill>
            <a:srgbClr val="1C223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41248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VINCE DAVVERO?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1323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Izzet Prowess è sotto il 50% contro 8 dei 9 avversari principali: batte solo Belcher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19088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melee.gg Regional Championship · winrate del mazzo in riga contro quello in colonna · celle con meno di 30 partite tratteggiate.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274552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pic>
        <p:nvPicPr>
          <p:cNvPr id="18" name="Image 0" descr="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452567"/>
            <a:ext cx="7345680" cy="4902513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412480" y="1783080"/>
            <a:ext cx="3319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000" b="1" dirty="0">
                <a:solidFill>
                  <a:srgbClr val="1B9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68%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8412480" y="2331720"/>
            <a:ext cx="3319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Izzet Prowess contro Belcher (91 partite): la sua unica vittoria netta.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8412480" y="3246120"/>
            <a:ext cx="3319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000" b="1" dirty="0">
                <a:solidFill>
                  <a:srgbClr val="1B9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71%</a:t>
            </a:r>
            <a:endParaRPr lang="en-US" sz="3000" dirty="0"/>
          </a:p>
        </p:txBody>
      </p:sp>
      <p:sp>
        <p:nvSpPr>
          <p:cNvPr id="13" name="Text 9"/>
          <p:cNvSpPr txBox="1"/>
          <p:nvPr/>
        </p:nvSpPr>
        <p:spPr>
          <a:xfrm>
            <a:off x="8412480" y="3794760"/>
            <a:ext cx="3319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Izzet Affinity contro Esper Goryo's: il matchup più sbilanciato tra i top 10.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8412480" y="4709160"/>
            <a:ext cx="3319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0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35–40%</a:t>
            </a:r>
            <a:endParaRPr lang="en-US" sz="3000" dirty="0"/>
          </a:p>
        </p:txBody>
      </p:sp>
      <p:sp>
        <p:nvSpPr>
          <p:cNvPr id="15" name="Text 11"/>
          <p:cNvSpPr txBox="1"/>
          <p:nvPr/>
        </p:nvSpPr>
        <p:spPr>
          <a:xfrm>
            <a:off x="8412480" y="5257800"/>
            <a:ext cx="3319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Izzet Prowess contro Boros Energy, Jeskai Blink e Goryo's Vengeance.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274320" cy="274320"/>
          </a:xfrm>
          <a:prstGeom prst="ellipse">
            <a:avLst/>
          </a:prstGeom>
          <a:solidFill>
            <a:srgbClr val="1C223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41248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VINCE DAVVERO?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1323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 Pro Tour Boros Energy scende dal 53% al 44%: il vantaggio dei Regional non si trasferisce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19088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Fonti: melee.gg Regional Championship (questo dataset) · Pro Tour MSH, giorni 1–2, dati pubblicati da Frank Karsten (x.com/karsten_frank).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274552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pic>
        <p:nvPicPr>
          <p:cNvPr id="16" name="Image 0" descr="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737360"/>
            <a:ext cx="6178269" cy="46177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138160" y="1783080"/>
            <a:ext cx="3593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0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−8,9 p.p.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8138160" y="2331720"/>
            <a:ext cx="3593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Boros Energy: gli intervalli dei due eventi quasi non si toccano (285 partite al PT).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8138160" y="3246120"/>
            <a:ext cx="3593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0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−6,8 p.p.</a:t>
            </a:r>
            <a:endParaRPr lang="en-US" sz="3000" dirty="0"/>
          </a:p>
        </p:txBody>
      </p:sp>
      <p:sp>
        <p:nvSpPr>
          <p:cNvPr id="13" name="Text 9"/>
          <p:cNvSpPr txBox="1"/>
          <p:nvPr/>
        </p:nvSpPr>
        <p:spPr>
          <a:xfrm>
            <a:off x="8138160" y="3794760"/>
            <a:ext cx="3593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Izzet Affinity segue lo stesso schema: sopra il 50% nei Regional, sotto al Pro Tour.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8138160" y="4709160"/>
            <a:ext cx="3593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000" b="1" dirty="0">
                <a:solidFill>
                  <a:srgbClr val="1B9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+3,2 / +3,4</a:t>
            </a:r>
            <a:endParaRPr lang="en-US" sz="3000" dirty="0"/>
          </a:p>
        </p:txBody>
      </p:sp>
      <p:sp>
        <p:nvSpPr>
          <p:cNvPr id="15" name="Text 11"/>
          <p:cNvSpPr txBox="1"/>
          <p:nvPr/>
        </p:nvSpPr>
        <p:spPr>
          <a:xfrm>
            <a:off x="8138160" y="5257800"/>
            <a:ext cx="3593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Izzet Prowess ed Esper Goryo's vanno meglio al Pro Tour.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C22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CONCLUSIONI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Popolarità non è forza: il 2° mazzo più giocato è l'unico che perde in modo significativo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743200"/>
            <a:ext cx="2560320" cy="3108960"/>
          </a:xfrm>
          <a:prstGeom prst="rect">
            <a:avLst/>
          </a:prstGeom>
          <a:solidFill>
            <a:srgbClr val="2A31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 txBox="1"/>
          <p:nvPr/>
        </p:nvSpPr>
        <p:spPr>
          <a:xfrm>
            <a:off x="868680" y="29718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93192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it-IT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Picco mensile di popolarità di Boros Energy (</a:t>
            </a:r>
            <a:r>
              <a:rPr lang="it-IT" sz="15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</a:t>
            </a:r>
            <a:r>
              <a:rPr lang="it-IT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2024).</a:t>
            </a:r>
            <a:endParaRPr lang="en-US" sz="15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29000" y="2743200"/>
            <a:ext cx="2560320" cy="3108960"/>
          </a:xfrm>
          <a:prstGeom prst="rect">
            <a:avLst/>
          </a:prstGeom>
          <a:solidFill>
            <a:srgbClr val="2A31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 txBox="1"/>
          <p:nvPr/>
        </p:nvSpPr>
        <p:spPr>
          <a:xfrm>
            <a:off x="3657600" y="29718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9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vs 1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3657600" y="393192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archetipi significativamente sopra e sotto il 50% nei Regional Championship.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2743200"/>
            <a:ext cx="2560320" cy="3108960"/>
          </a:xfrm>
          <a:prstGeom prst="rect">
            <a:avLst/>
          </a:prstGeom>
          <a:solidFill>
            <a:srgbClr val="2A31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 txBox="1"/>
          <p:nvPr/>
        </p:nvSpPr>
        <p:spPr>
          <a:xfrm>
            <a:off x="6446520" y="29718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−3,9 p.p.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393192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ban di Phlage elimina di fatto Jeskai Blink in tre mesi.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006840" y="2743200"/>
            <a:ext cx="2560320" cy="3108960"/>
          </a:xfrm>
          <a:prstGeom prst="rect">
            <a:avLst/>
          </a:prstGeom>
          <a:solidFill>
            <a:srgbClr val="2A31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 txBox="1"/>
          <p:nvPr/>
        </p:nvSpPr>
        <p:spPr>
          <a:xfrm>
            <a:off x="9235440" y="29718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 vs 44%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9235440" y="393192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vantaggio di Boros Energy nei Regional non regge al Pro Tour.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1323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Limiti </a:t>
            </a:r>
            <a:r>
              <a:rPr lang="en-US" sz="2500" b="1" dirty="0" err="1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dei</a:t>
            </a:r>
            <a:r>
              <a:rPr lang="en-US" sz="25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500" b="1" dirty="0" err="1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dati</a:t>
            </a:r>
            <a:r>
              <a:rPr lang="en-US" sz="25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500" b="1" dirty="0" err="1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utilizzati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11274552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691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LIMITI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57199" y="2103120"/>
            <a:ext cx="4428067" cy="1874520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7" name="Text 4"/>
          <p:cNvSpPr txBox="1"/>
          <p:nvPr/>
        </p:nvSpPr>
        <p:spPr>
          <a:xfrm>
            <a:off x="685800" y="2286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Copertura temporale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85799" y="2697480"/>
            <a:ext cx="3953933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dati partita per partita coprono solo le ere 8–10: nessun Regional Championship prima del 2025.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096000" y="2103120"/>
            <a:ext cx="4428066" cy="1874520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0" name="Text 7"/>
          <p:cNvSpPr txBox="1"/>
          <p:nvPr/>
        </p:nvSpPr>
        <p:spPr>
          <a:xfrm>
            <a:off x="6324600" y="2286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piazzamenti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324599" y="2697480"/>
            <a:ext cx="3937001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MTGGoldfish salva quasi solo piazzamento e decklist, senza il record W-L-D.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57200" y="4206240"/>
            <a:ext cx="4428066" cy="1874520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3" name="Text 10"/>
          <p:cNvSpPr txBox="1"/>
          <p:nvPr/>
        </p:nvSpPr>
        <p:spPr>
          <a:xfrm>
            <a:off x="685800" y="4389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 degli archetipi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4800600"/>
            <a:ext cx="39539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Scelti dai giocatori su melee.gg: varianti dello stesso mazzo possono apparire separate.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096000" y="4206240"/>
            <a:ext cx="4428066" cy="1874520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6" name="Text 13"/>
          <p:cNvSpPr txBox="1"/>
          <p:nvPr/>
        </p:nvSpPr>
        <p:spPr>
          <a:xfrm>
            <a:off x="6324600" y="4389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 10 giovane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324600" y="4800600"/>
            <a:ext cx="419946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Circa 3 mesi contro i 14 dell'Era 9: i numeri recenti sono i meno stabili.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1323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Fonti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11274552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8288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melee.gg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3474720" y="1828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Decklist/SearchDecklists, Standing/GetRoundStandings, Player/GetPlayerDetails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487168"/>
            <a:ext cx="11274552" cy="0"/>
          </a:xfrm>
          <a:prstGeom prst="line">
            <a:avLst/>
          </a:prstGeom>
          <a:noFill/>
          <a:ln w="12700">
            <a:solidFill>
              <a:srgbClr val="EEF0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 txBox="1"/>
          <p:nvPr/>
        </p:nvSpPr>
        <p:spPr>
          <a:xfrm>
            <a:off x="457200" y="2697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mtggoldfish.com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2697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Tornei Modern, decklist e piazzamenti (2020–2026)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3355848"/>
            <a:ext cx="11274552" cy="0"/>
          </a:xfrm>
          <a:prstGeom prst="line">
            <a:avLst/>
          </a:prstGeom>
          <a:noFill/>
          <a:ln w="12700">
            <a:solidFill>
              <a:srgbClr val="EEF0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 txBox="1"/>
          <p:nvPr/>
        </p:nvSpPr>
        <p:spPr>
          <a:xfrm>
            <a:off x="457200" y="35661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magic.wizards.com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3566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Annunci ufficiali Banned &amp; Restricted, motivazioni dei ban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4224528"/>
            <a:ext cx="11274552" cy="0"/>
          </a:xfrm>
          <a:prstGeom prst="line">
            <a:avLst/>
          </a:prstGeom>
          <a:noFill/>
          <a:ln w="12700">
            <a:solidFill>
              <a:srgbClr val="EEF0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 txBox="1"/>
          <p:nvPr/>
        </p:nvSpPr>
        <p:spPr>
          <a:xfrm>
            <a:off x="457200" y="4434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 Karsten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4434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Winrate Pro Tour MSH, x.com/karsten_frank/status/2078731453685231746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1847</Words>
  <Application>Microsoft Office PowerPoint</Application>
  <PresentationFormat>Widescreen</PresentationFormat>
  <Paragraphs>258</Paragraphs>
  <Slides>20</Slides>
  <Notes>20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20</vt:i4>
      </vt:variant>
    </vt:vector>
  </HeadingPairs>
  <TitlesOfParts>
    <vt:vector size="24" baseType="lpstr">
      <vt:lpstr>Arial</vt:lpstr>
      <vt:lpstr>Calibri</vt:lpstr>
      <vt:lpstr>Cambria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Modern Metagame Analytics</dc:title>
  <dc:subject>Popolarità, matchup e impatto delle banlist nel formato Modern</dc:subject>
  <dc:creator>Federico Macasso</dc:creator>
  <cp:lastModifiedBy>fede maki</cp:lastModifiedBy>
  <cp:revision>10</cp:revision>
  <dcterms:created xsi:type="dcterms:W3CDTF">2026-09-16T14:37:26Z</dcterms:created>
  <dcterms:modified xsi:type="dcterms:W3CDTF">2026-09-23T14:20:51Z</dcterms:modified>
</cp:coreProperties>
</file>