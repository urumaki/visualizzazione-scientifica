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181" autoAdjust="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00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mio lavoro analizza il formato </a:t>
            </a:r>
            <a:r>
              <a:rPr lang="it-IT" dirty="0" err="1"/>
              <a:t>Modern</a:t>
            </a:r>
            <a:r>
              <a:rPr lang="it-IT" dirty="0"/>
              <a:t> di Magic attraverso i dati dei tornei, dal 2020 a oggi. Rispondo a tre domande: chi gioca cosa, cosa cambia con la </a:t>
            </a:r>
            <a:r>
              <a:rPr lang="it-IT" dirty="0" err="1"/>
              <a:t>banlist</a:t>
            </a:r>
            <a:r>
              <a:rPr lang="it-IT" dirty="0"/>
              <a:t> e chi vince davvero. Il dataset conta quasi 189 mila mazzi, raccolti da due fonti diverse. Il filo che attraversa tutta la presentazione è la differenza tra un mazzo popolare e un mazzo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(Glossario a icone) Prima dei grafici, i concetti che servono per leggerli. A sinistra le regole del gioco: il mazzo, il formato </a:t>
            </a:r>
            <a:r>
              <a:rPr lang="it-IT" dirty="0" err="1"/>
              <a:t>Modern</a:t>
            </a:r>
            <a:r>
              <a:rPr lang="it-IT" dirty="0"/>
              <a:t>, l'incontro al meglio di tre partite, il torneo e la </a:t>
            </a:r>
            <a:r>
              <a:rPr lang="it-IT" dirty="0" err="1"/>
              <a:t>banlist</a:t>
            </a:r>
            <a:r>
              <a:rPr lang="it-IT" dirty="0"/>
              <a:t>. Ogni aggiornamento della </a:t>
            </a:r>
            <a:r>
              <a:rPr lang="it-IT" dirty="0" err="1"/>
              <a:t>banlist</a:t>
            </a:r>
            <a:r>
              <a:rPr lang="it-IT" dirty="0"/>
              <a:t> apre una nuova era. I termini usati nei grafici. I due più importanti sono il </a:t>
            </a:r>
            <a:r>
              <a:rPr lang="it-IT" dirty="0" err="1"/>
              <a:t>winrate</a:t>
            </a:r>
            <a:r>
              <a:rPr lang="it-IT" dirty="0"/>
              <a:t>, calcolato escludendo i pareggi, e l'intervallo di confidenza al 95%, che misura quanto è affidabile un </a:t>
            </a:r>
            <a:r>
              <a:rPr lang="it-IT" dirty="0" err="1"/>
              <a:t>winrate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(Grafico a barre verticali: </a:t>
            </a:r>
            <a:r>
              <a:rPr lang="it-IT" dirty="0" err="1"/>
              <a:t>decklist</a:t>
            </a:r>
            <a:r>
              <a:rPr lang="it-IT" dirty="0"/>
              <a:t> </a:t>
            </a:r>
            <a:r>
              <a:rPr lang="it-IT" dirty="0" err="1"/>
              <a:t>MTGGoldfish</a:t>
            </a:r>
            <a:r>
              <a:rPr lang="it-IT" dirty="0"/>
              <a:t> per anno) Uso due fonti per i dati. A sinistra </a:t>
            </a:r>
            <a:r>
              <a:rPr lang="it-IT" dirty="0" err="1"/>
              <a:t>MTGGoldfish</a:t>
            </a:r>
            <a:r>
              <a:rPr lang="it-IT" dirty="0"/>
              <a:t>: dà volume e profondità storica, circa 182 mila mazzi dal 2020, per il 63% da tornei online su MTGO. Il limite è che registra solo il piazzamento, non vittorie e sconfitte. Il calo del 2026 dipende dall'anno ancora in corso, non da un minor numero di tornei.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sezione risponde a una domanda. Le visualizzazioni sono scelte per rispondere a quella domanda, non per mostrare tutto il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sezione: descrittiva.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(</a:t>
            </a:r>
            <a:r>
              <a:rPr lang="it-IT" dirty="0" err="1"/>
              <a:t>Dumbbell</a:t>
            </a:r>
            <a:r>
              <a:rPr lang="it-IT" dirty="0"/>
              <a:t> plot: popolarità per fonte) Per ogni archetipo confronto la quota su </a:t>
            </a:r>
            <a:r>
              <a:rPr lang="it-IT" dirty="0" err="1"/>
              <a:t>MTGGoldfish</a:t>
            </a:r>
            <a:r>
              <a:rPr lang="it-IT" dirty="0"/>
              <a:t>, in grigio, e quella nei Regional dal vivo, in scuro, nello stesso periodo. Boros Energy è il mazzo più giocato in entrambe le fonti. Online è al 12,3%, quasi il doppio del secondo mazzo. Nei Regional scende al 7,3% e il distacco si riduce.</a:t>
            </a:r>
          </a:p>
          <a:p>
            <a:pPr rtl="0"/>
            <a:r>
              <a:rPr lang="it-IT" dirty="0"/>
              <a:t>Le due fonti non vedono lo stesso formato. </a:t>
            </a:r>
            <a:r>
              <a:rPr lang="it-IT" dirty="0" err="1"/>
              <a:t>Jeskai</a:t>
            </a:r>
            <a:r>
              <a:rPr lang="it-IT" dirty="0"/>
              <a:t> Blink è quasi due volte più presente dal vivo, mentre </a:t>
            </a:r>
            <a:r>
              <a:rPr lang="it-IT" dirty="0" err="1"/>
              <a:t>Eldrazi</a:t>
            </a:r>
            <a:r>
              <a:rPr lang="it-IT" dirty="0"/>
              <a:t> Tron è tre volte meno presente. Segno anche Izzet </a:t>
            </a:r>
            <a:r>
              <a:rPr lang="it-IT" dirty="0" err="1"/>
              <a:t>Prowess</a:t>
            </a:r>
            <a:r>
              <a:rPr lang="it-IT" dirty="0"/>
              <a:t>: online è al 4,2%, ma nei Regional sale al 5,9% ed è il secondo mazzo più giocato. Chi gioca un torneo competitivo lo sceglie più spesso. Ci torno alla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(Small </a:t>
            </a:r>
            <a:r>
              <a:rPr lang="it-IT" dirty="0" err="1"/>
              <a:t>multiples</a:t>
            </a:r>
            <a:r>
              <a:rPr lang="it-IT" dirty="0"/>
              <a:t>: grafici ad area della quota mensile) I sei archetipi più giocati, tutti con la stessa scala verticale, così i picchi si confrontano a colpo d'occhio. Le linee tratteggiate sono gli aggiornamenti della </a:t>
            </a:r>
            <a:r>
              <a:rPr lang="it-IT" dirty="0" err="1"/>
              <a:t>banlist</a:t>
            </a:r>
            <a:r>
              <a:rPr lang="it-IT" dirty="0"/>
              <a:t>. Boros Energy arriva quasi al 25% del </a:t>
            </a:r>
            <a:r>
              <a:rPr lang="it-IT" dirty="0" err="1"/>
              <a:t>metagame</a:t>
            </a:r>
            <a:r>
              <a:rPr lang="it-IT" dirty="0"/>
              <a:t> a novembre 2024: un mazzo su quattro. Nessun altro archetipo dal 2020 ha superato il 18%.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sezione.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(Timeline della </a:t>
            </a:r>
            <a:r>
              <a:rPr lang="it-IT" dirty="0" err="1"/>
              <a:t>banlist</a:t>
            </a:r>
            <a:r>
              <a:rPr lang="it-IT" dirty="0"/>
              <a:t>) I nove aggiornamenti della </a:t>
            </a:r>
            <a:r>
              <a:rPr lang="it-IT" dirty="0" err="1"/>
              <a:t>banlist</a:t>
            </a:r>
            <a:r>
              <a:rPr lang="it-IT" dirty="0"/>
              <a:t> in cinque anni, con le carte colpite e la motivazione ufficiale. Le motivazioni ricorrenti sono due: una carta troppo presente, come </a:t>
            </a:r>
            <a:r>
              <a:rPr lang="it-IT" dirty="0" err="1"/>
              <a:t>Lurrus</a:t>
            </a:r>
            <a:r>
              <a:rPr lang="it-IT" dirty="0"/>
              <a:t> nel 31% dei mazzi vincenti o </a:t>
            </a:r>
            <a:r>
              <a:rPr lang="it-IT" dirty="0" err="1"/>
              <a:t>Jegantha</a:t>
            </a:r>
            <a:r>
              <a:rPr lang="it-IT" dirty="0"/>
              <a:t> nel 40%, oppure partite troppo lente o ripetitive. Ogni aggiornamento apre una nuova era, e le ere sono l'unità di tempo dei grafici successivi. In arancione l'ultimo aggiornamento, il </a:t>
            </a:r>
            <a:r>
              <a:rPr lang="it-IT" dirty="0" err="1"/>
              <a:t>ban</a:t>
            </a:r>
            <a:r>
              <a:rPr lang="it-IT" dirty="0"/>
              <a:t> di </a:t>
            </a:r>
            <a:r>
              <a:rPr lang="it-IT" dirty="0" err="1"/>
              <a:t>Phlage</a:t>
            </a:r>
            <a:r>
              <a:rPr lang="it-IT" dirty="0"/>
              <a:t> del 18 maggio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(Grafico a barre </a:t>
            </a:r>
            <a:r>
              <a:rPr lang="en-US" dirty="0" err="1"/>
              <a:t>orizzontali</a:t>
            </a:r>
            <a:r>
              <a:rPr lang="en-US" dirty="0"/>
              <a:t>) </a:t>
            </a:r>
            <a:r>
              <a:rPr lang="it-IT" dirty="0"/>
              <a:t>In arancione le due carte poi bannate. </a:t>
            </a:r>
            <a:r>
              <a:rPr lang="it-IT" dirty="0" err="1"/>
              <a:t>Phlage</a:t>
            </a:r>
            <a:r>
              <a:rPr lang="it-IT" dirty="0"/>
              <a:t> è nel 12,6% dei mazzi, cioè uno su otto, e The One Ring nel 10%: entrambe erano tra le carte più giocate quando sono state vietate. Nel </a:t>
            </a:r>
            <a:r>
              <a:rPr lang="it-IT" dirty="0" err="1"/>
              <a:t>sideboard</a:t>
            </a:r>
            <a:r>
              <a:rPr lang="it-IT" dirty="0"/>
              <a:t> dominano le risposte mirate, come Mystical Dispute contro i mazzi blu e </a:t>
            </a:r>
            <a:r>
              <a:rPr lang="it-IT" dirty="0" err="1"/>
              <a:t>Consign</a:t>
            </a:r>
            <a:r>
              <a:rPr lang="it-IT" dirty="0"/>
              <a:t> to Memory contro le combo.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(Arrow chart: quota per archetipo, Era 9 contro Era 10) Ogni freccia va dalla quota di un archetipo prima del </a:t>
            </a:r>
            <a:r>
              <a:rPr lang="it-IT" dirty="0" err="1"/>
              <a:t>ban</a:t>
            </a:r>
            <a:r>
              <a:rPr lang="it-IT" dirty="0"/>
              <a:t> di </a:t>
            </a:r>
            <a:r>
              <a:rPr lang="it-IT" dirty="0" err="1"/>
              <a:t>Phlage</a:t>
            </a:r>
            <a:r>
              <a:rPr lang="it-IT" dirty="0"/>
              <a:t> a quella dopo. In verde chi guadagna, in arancione chi perde, ordinati per variazione. </a:t>
            </a:r>
            <a:r>
              <a:rPr lang="it-IT" dirty="0" err="1"/>
              <a:t>Phlage</a:t>
            </a:r>
            <a:r>
              <a:rPr lang="it-IT" dirty="0"/>
              <a:t> era la carta chiave sia di </a:t>
            </a:r>
            <a:r>
              <a:rPr lang="it-IT" dirty="0" err="1"/>
              <a:t>Jeskai</a:t>
            </a:r>
            <a:r>
              <a:rPr lang="it-IT" dirty="0"/>
              <a:t> Blink sia di Boros Energy. </a:t>
            </a:r>
            <a:r>
              <a:rPr lang="it-IT" dirty="0" err="1"/>
              <a:t>Jeskai</a:t>
            </a:r>
            <a:r>
              <a:rPr lang="it-IT" dirty="0"/>
              <a:t> Blink passa dal 4,2% allo 0,3%, un calo del 94%: di fatto scompare.</a:t>
            </a:r>
          </a:p>
          <a:p>
            <a:pPr rtl="0"/>
            <a:r>
              <a:rPr lang="it-IT" dirty="0"/>
              <a:t>Boros Energy perde 6,4 punti, quasi metà della sua quota, ma resta il mazzo più giocato: il </a:t>
            </a:r>
            <a:r>
              <a:rPr lang="it-IT" dirty="0" err="1"/>
              <a:t>ban</a:t>
            </a:r>
            <a:r>
              <a:rPr lang="it-IT" dirty="0"/>
              <a:t> lo indebolisce senza eliminarlo. Il principale beneficiario è </a:t>
            </a:r>
            <a:r>
              <a:rPr lang="it-IT" dirty="0" err="1"/>
              <a:t>Goryo's</a:t>
            </a:r>
            <a:r>
              <a:rPr lang="it-IT" dirty="0"/>
              <a:t> Vengeance. Cautela: l'Era 10 dura finora solo tre mesi, quindi le quote recenti sono meno stabili.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</a:t>
            </a:r>
            <a:r>
              <a:rPr lang="it-IT" dirty="0" err="1"/>
              <a:t>Heatmap</a:t>
            </a:r>
            <a:r>
              <a:rPr lang="it-IT" dirty="0"/>
              <a:t>: piazzamenti in top 3 al mese per era). Le ere durano da 3 a 14 mesi, quindi divido per la durata: altrimenti le ere lunghe sembrerebbero più importanti. Il riquadro arancione indica il leader di ogni era. Fino all'Era 6 è </a:t>
            </a:r>
            <a:r>
              <a:rPr lang="it-IT" dirty="0" err="1"/>
              <a:t>Yawgmoth</a:t>
            </a:r>
            <a:r>
              <a:rPr lang="it-IT" dirty="0"/>
              <a:t>, con un massimo di 22,4 piazzamenti al mese. Dall'Era 7 è sempre Boros Energy, che nell'Era 9 tocca 32,7 al mese, il valore più alto della serie. Nell'Era 10, dopo il </a:t>
            </a:r>
            <a:r>
              <a:rPr lang="it-IT" dirty="0" err="1"/>
              <a:t>ban</a:t>
            </a:r>
            <a:r>
              <a:rPr lang="it-IT" dirty="0"/>
              <a:t>, Affinity e </a:t>
            </a:r>
            <a:r>
              <a:rPr lang="it-IT" dirty="0" err="1"/>
              <a:t>Goryo's</a:t>
            </a:r>
            <a:r>
              <a:rPr lang="it-IT" dirty="0"/>
              <a:t> Vengeance arrivano quasi alla pari.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(Grafico a barre orizzontali e grafico a intervalli di confidenza: </a:t>
            </a:r>
            <a:r>
              <a:rPr lang="it-IT" dirty="0" err="1"/>
              <a:t>Violent</a:t>
            </a:r>
            <a:r>
              <a:rPr lang="it-IT" dirty="0"/>
              <a:t> </a:t>
            </a:r>
            <a:r>
              <a:rPr lang="it-IT" dirty="0" err="1"/>
              <a:t>Outburst</a:t>
            </a:r>
            <a:r>
              <a:rPr lang="it-IT" dirty="0"/>
              <a:t> e Living End) Nello stesso aggiornamento è stata </a:t>
            </a:r>
            <a:r>
              <a:rPr lang="it-IT" dirty="0" err="1"/>
              <a:t>sbannata</a:t>
            </a:r>
            <a:r>
              <a:rPr lang="it-IT" dirty="0"/>
              <a:t> </a:t>
            </a:r>
            <a:r>
              <a:rPr lang="it-IT" dirty="0" err="1"/>
              <a:t>Violent</a:t>
            </a:r>
            <a:r>
              <a:rPr lang="it-IT" dirty="0"/>
              <a:t> </a:t>
            </a:r>
            <a:r>
              <a:rPr lang="it-IT" dirty="0" err="1"/>
              <a:t>Outburst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Terza sezione: inferenziale.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(Forest plot: </a:t>
            </a:r>
            <a:r>
              <a:rPr lang="it-IT" dirty="0" err="1"/>
              <a:t>winrate</a:t>
            </a:r>
            <a:r>
              <a:rPr lang="it-IT" dirty="0"/>
              <a:t> con IC 95%) Il </a:t>
            </a:r>
            <a:r>
              <a:rPr lang="it-IT" dirty="0" err="1"/>
              <a:t>winrate</a:t>
            </a:r>
            <a:r>
              <a:rPr lang="it-IT" dirty="0"/>
              <a:t> nei Regional di ogni archetipo con almeno 300 partite. Il punto è il </a:t>
            </a:r>
            <a:r>
              <a:rPr lang="it-IT" dirty="0" err="1"/>
              <a:t>winrate</a:t>
            </a:r>
            <a:r>
              <a:rPr lang="it-IT" dirty="0"/>
              <a:t>, grande in proporzione alle partite. La barra è l'intervallo di confidenza al 95%, calcolato con il metodo di Wilson. Verde se l'intervallo sta tutto sopra il 50%, arancione se sta tutto sotto, grigio se lo include: in quel caso i dati non permettono di dire se il mazzo sia sopra o sotto la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(Matrice dei </a:t>
            </a:r>
            <a:r>
              <a:rPr lang="it-IT" dirty="0" err="1"/>
              <a:t>matchup</a:t>
            </a:r>
            <a:r>
              <a:rPr lang="it-IT" dirty="0"/>
              <a:t>: </a:t>
            </a:r>
            <a:r>
              <a:rPr lang="it-IT" dirty="0" err="1"/>
              <a:t>heatmap</a:t>
            </a:r>
            <a:r>
              <a:rPr lang="it-IT" dirty="0"/>
              <a:t> divergente) Gli scontri diretti tra i dieci archetipi più giocati. Si legge per righe: ogni cella è il </a:t>
            </a:r>
            <a:r>
              <a:rPr lang="it-IT" dirty="0" err="1"/>
              <a:t>winrate</a:t>
            </a:r>
            <a:r>
              <a:rPr lang="it-IT" dirty="0"/>
              <a:t> del mazzo in riga contro quello in colonna. La scala è centrata sul 50%: verde vince, arancione perde, bianco equilibrio. Il grassetto indica un risultato significativo.</a:t>
            </a:r>
          </a:p>
          <a:p>
            <a:pPr rtl="0"/>
            <a:r>
              <a:rPr lang="it-IT" dirty="0"/>
              <a:t>La riga di Izzet </a:t>
            </a:r>
            <a:r>
              <a:rPr lang="it-IT" dirty="0" err="1"/>
              <a:t>Prowess</a:t>
            </a:r>
            <a:r>
              <a:rPr lang="it-IT" dirty="0"/>
              <a:t> è quasi tutta arancione. Perde contro otto dei nove avversari principali e batte solo Belcher, con il 68%. Contro Boros Energy, </a:t>
            </a:r>
            <a:r>
              <a:rPr lang="it-IT" dirty="0" err="1"/>
              <a:t>Jeskai</a:t>
            </a:r>
            <a:r>
              <a:rPr lang="it-IT" dirty="0"/>
              <a:t> Blink e </a:t>
            </a:r>
            <a:r>
              <a:rPr lang="it-IT" dirty="0" err="1"/>
              <a:t>Goryo's</a:t>
            </a:r>
            <a:r>
              <a:rPr lang="it-IT" dirty="0"/>
              <a:t> Vengeance vince tra il 35% e il 40%. Proprio i mazzi che incontra più spesso. Con 90 celle qualche risultato estremo può comparire per caso, quindi leggo l'andamento della riga più che il singolo valore. (Il numero è in </a:t>
            </a:r>
            <a:r>
              <a:rPr lang="it-IT" b="1" dirty="0"/>
              <a:t>grassetto</a:t>
            </a:r>
            <a:r>
              <a:rPr lang="it-IT" dirty="0"/>
              <a:t> se l'intervallo sta tutto sopra o tutto sotto il 50%)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(Dot plot con intervalli di confidenza: Regional contro Pro Tour) Confronto il </a:t>
            </a:r>
            <a:r>
              <a:rPr lang="it-IT" dirty="0" err="1"/>
              <a:t>winrate</a:t>
            </a:r>
            <a:r>
              <a:rPr lang="it-IT" dirty="0"/>
              <a:t> di ogni archetipo nei Regional, in blu scuro, e al Pro Tour, in arancione, usando i dati pubblicati da Frank Karsten. Boros Energy passa dal 53% al 44%, e i due intervalli non si sovrappongono. Il Pro Tour è su invito: gli avversari sono più forti e arrivano preparati proprio contro il mazzo da battere.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messaggio principale sta nei due mazzi che hanno attraversato tutta la presentazione. Boros Energy è il più popolare ed è forte nei Regional, ma il suo vantaggio non regge al Pro Tour. Izzet </a:t>
            </a:r>
            <a:r>
              <a:rPr lang="it-IT" dirty="0" err="1"/>
              <a:t>Prowess</a:t>
            </a:r>
            <a:r>
              <a:rPr lang="it-IT" dirty="0"/>
              <a:t> è il secondo mazzo dei Regional ed è l'unico che perde in modo significativo, eppure al Pro Tour recupera. Popolarità non è forza, e la forza di un mazzo dipende da chi ha di fronte.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Quattro limiti da tenere presenti. Primo: i dati incontro per incontro esistono solo da febbraio 2025, quindi non c'è un </a:t>
            </a:r>
            <a:r>
              <a:rPr lang="it-IT" dirty="0" err="1"/>
              <a:t>winrate</a:t>
            </a:r>
            <a:r>
              <a:rPr lang="it-IT" dirty="0"/>
              <a:t> per le ere precedenti. Secondo: </a:t>
            </a:r>
            <a:r>
              <a:rPr lang="it-IT" dirty="0" err="1"/>
              <a:t>MTGGoldfish</a:t>
            </a:r>
            <a:r>
              <a:rPr lang="it-IT" dirty="0"/>
              <a:t> registra solo piazzamenti, senza vittorie e sconfitte. Terzo: su melee.gg i nomi degli archetipi li scelgono i giocatori, quindi varianti dello stesso mazzo possono comparire separate. Quarto: l'Era 10 dura solo tre mesi e i numeri più recenti sono i meno stabili.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SCIENTIFICA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Metagame Analytics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domina il Modern competitivo, come lo cambia la banlist e chi vince davvero (2020–2026)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188.911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mazzi analizzati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(MTGGoldfish + melee.gg)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4069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41.716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 registrate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per match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4069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 Regional Championship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Spotlight Series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Macasso  ·  Matricola 21030A</a:t>
            </a:r>
            <a:endParaRPr lang="en-US" sz="1500" dirty="0"/>
          </a:p>
        </p:txBody>
      </p:sp>
      <p:pic>
        <p:nvPicPr>
          <p:cNvPr id="13" name="Immagine 12" descr="Immagine che contiene Carattere, Elementi grafici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066BB2B6-184F-504D-678E-55DD59C19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78" y="316830"/>
            <a:ext cx="2327001" cy="646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Magic e il formato Modern in un minuto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057400" cy="201168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30552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Mazzo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carte, più 15 di sideboard da scambiare tra una partita e l'altra.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34056" y="1828800"/>
            <a:ext cx="2057400" cy="201168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2916936" y="2011680"/>
            <a:ext cx="502920" cy="5029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13055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16936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2916936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 le carte stampate dal 2003 in poi, senza rotazione.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10912" y="1828800"/>
            <a:ext cx="2057400" cy="201168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1"/>
          <p:cNvSpPr/>
          <p:nvPr/>
        </p:nvSpPr>
        <p:spPr>
          <a:xfrm>
            <a:off x="5193792" y="2011680"/>
            <a:ext cx="502920" cy="5029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13055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93792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Incontro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193792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meglio di 3 partite; vince chi ne conquista 2.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287768" y="1828800"/>
            <a:ext cx="2057400" cy="201168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5"/>
          <p:cNvSpPr/>
          <p:nvPr/>
        </p:nvSpPr>
        <p:spPr>
          <a:xfrm>
            <a:off x="7470648" y="2011680"/>
            <a:ext cx="502920" cy="5029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130552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70648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Torneo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470648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preliminari per la classifica, poi eliminazione diretta.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64624" y="1828800"/>
            <a:ext cx="2057400" cy="201168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19"/>
          <p:cNvSpPr/>
          <p:nvPr/>
        </p:nvSpPr>
        <p:spPr>
          <a:xfrm>
            <a:off x="9747504" y="2011680"/>
            <a:ext cx="502920" cy="5029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376" y="2130552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Banlist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9747504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vietate. Ogni aggiornamento apre una nuova «era».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57200" y="4069080"/>
            <a:ext cx="2057400" cy="2011680"/>
          </a:xfrm>
          <a:prstGeom prst="rect">
            <a:avLst/>
          </a:prstGeom>
          <a:solidFill>
            <a:srgbClr val="E3F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3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4370832"/>
            <a:ext cx="265176" cy="26517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40080" y="4873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Archetipo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640080" y="5257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riconoscibile di mazzo, es. Boros Energy.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2734056" y="4069080"/>
            <a:ext cx="2057400" cy="2011680"/>
          </a:xfrm>
          <a:prstGeom prst="rect">
            <a:avLst/>
          </a:prstGeom>
          <a:solidFill>
            <a:srgbClr val="E3F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27"/>
          <p:cNvSpPr/>
          <p:nvPr/>
        </p:nvSpPr>
        <p:spPr>
          <a:xfrm>
            <a:off x="2916936" y="42519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5808" y="4370832"/>
            <a:ext cx="265176" cy="26517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2916936" y="4873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Metagame</a:t>
            </a:r>
            <a:endParaRPr lang="en-US" sz="1700" dirty="0"/>
          </a:p>
        </p:txBody>
      </p:sp>
      <p:sp>
        <p:nvSpPr>
          <p:cNvPr id="39" name="Text 29"/>
          <p:cNvSpPr txBox="1"/>
          <p:nvPr/>
        </p:nvSpPr>
        <p:spPr>
          <a:xfrm>
            <a:off x="2916936" y="5257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di utilizzo di ogni archetipo in un periodo.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010912" y="4069080"/>
            <a:ext cx="2057400" cy="2011680"/>
          </a:xfrm>
          <a:prstGeom prst="rect">
            <a:avLst/>
          </a:prstGeom>
          <a:solidFill>
            <a:srgbClr val="E3F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1"/>
          <p:cNvSpPr/>
          <p:nvPr/>
        </p:nvSpPr>
        <p:spPr>
          <a:xfrm>
            <a:off x="5193792" y="42519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2664" y="4370832"/>
            <a:ext cx="265176" cy="26517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5193792" y="4873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Winrate</a:t>
            </a:r>
            <a:endParaRPr lang="en-US" sz="1700" dirty="0"/>
          </a:p>
        </p:txBody>
      </p:sp>
      <p:sp>
        <p:nvSpPr>
          <p:cNvPr id="44" name="Text 33"/>
          <p:cNvSpPr txBox="1"/>
          <p:nvPr/>
        </p:nvSpPr>
        <p:spPr>
          <a:xfrm>
            <a:off x="5193792" y="5257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Vittorie / (vittorie + sconfitte). Pareggi esclusi.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7287768" y="4069080"/>
            <a:ext cx="2057400" cy="2011680"/>
          </a:xfrm>
          <a:prstGeom prst="rect">
            <a:avLst/>
          </a:prstGeom>
          <a:solidFill>
            <a:srgbClr val="E3F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35"/>
          <p:cNvSpPr/>
          <p:nvPr/>
        </p:nvSpPr>
        <p:spPr>
          <a:xfrm>
            <a:off x="7470648" y="42519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9520" y="4370832"/>
            <a:ext cx="265176" cy="265176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7470648" y="4873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</a:t>
            </a:r>
            <a:endParaRPr lang="en-US" sz="1700" dirty="0"/>
          </a:p>
        </p:txBody>
      </p:sp>
      <p:sp>
        <p:nvSpPr>
          <p:cNvPr id="49" name="Text 37"/>
          <p:cNvSpPr txBox="1"/>
          <p:nvPr/>
        </p:nvSpPr>
        <p:spPr>
          <a:xfrm>
            <a:off x="7470648" y="5257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Scontro tra due archetipi, con il suo winrate.</a:t>
            </a:r>
            <a:endParaRPr lang="en-US" sz="1200" dirty="0"/>
          </a:p>
        </p:txBody>
      </p:sp>
      <p:sp>
        <p:nvSpPr>
          <p:cNvPr id="50" name="Shape 38"/>
          <p:cNvSpPr/>
          <p:nvPr/>
        </p:nvSpPr>
        <p:spPr>
          <a:xfrm>
            <a:off x="9564624" y="4069080"/>
            <a:ext cx="2057400" cy="2011680"/>
          </a:xfrm>
          <a:prstGeom prst="rect">
            <a:avLst/>
          </a:prstGeom>
          <a:solidFill>
            <a:srgbClr val="E3F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39"/>
          <p:cNvSpPr/>
          <p:nvPr/>
        </p:nvSpPr>
        <p:spPr>
          <a:xfrm>
            <a:off x="9747504" y="425196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6376" y="4370832"/>
            <a:ext cx="265176" cy="265176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9747504" y="4873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</a:t>
            </a:r>
            <a:endParaRPr lang="en-US" sz="1700" dirty="0"/>
          </a:p>
        </p:txBody>
      </p:sp>
      <p:sp>
        <p:nvSpPr>
          <p:cNvPr id="54" name="Text 41"/>
          <p:cNvSpPr txBox="1"/>
          <p:nvPr/>
        </p:nvSpPr>
        <p:spPr>
          <a:xfrm>
            <a:off x="9747504" y="5257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Incertezza sul winrate: più piccolo il campione, più largo l'intervallo.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45720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DEL GIOCO</a:t>
            </a:r>
            <a:endParaRPr lang="en-US" sz="1050" dirty="0"/>
          </a:p>
        </p:txBody>
      </p:sp>
      <p:sp>
        <p:nvSpPr>
          <p:cNvPr id="56" name="Text 43"/>
          <p:cNvSpPr txBox="1"/>
          <p:nvPr/>
        </p:nvSpPr>
        <p:spPr>
          <a:xfrm>
            <a:off x="45720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 USATI NEI GRAFICI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fonti complementari: ampiezza storica e profondità competitiva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mtggoldfish.com · melee.gg (Decklist, Standings, Player API). Pipeline: Python (requests, pandas, matplotlib).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MTGGoldfish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94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Decklist e piazzamenti, ago 2020 – 2026 · 63% MTGO, 37% cartaceo</a:t>
            </a:r>
            <a:endParaRPr lang="en-US" sz="1300" dirty="0"/>
          </a:p>
        </p:txBody>
      </p:sp>
      <p:pic>
        <p:nvPicPr>
          <p:cNvPr id="20" name="Image 0" descr="y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12326"/>
            <a:ext cx="5760720" cy="309638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5760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2026 parziale: il calo riflette la copertura, non meno tornei.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583680" y="1783080"/>
            <a:ext cx="5148072" cy="443484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 txBox="1"/>
          <p:nvPr/>
        </p:nvSpPr>
        <p:spPr>
          <a:xfrm>
            <a:off x="68580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melee.gg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Championship e Spotlight Series, risultato di ogni partita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788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7.129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decklist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2788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41.716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0" y="2788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39319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 ricalcolato dal punteggio grezzo di ogni partita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Archetipo collegato unendo decklist e classifiche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Giocatori con nome segnaposto («?????») esclusi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 è disponibile il record W-L-D: MTGGoldfish fornisce solo il piazzamento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</a:t>
            </a:r>
            <a:r>
              <a:rPr lang="en-US" sz="48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quesiti</a:t>
            </a:r>
            <a:r>
              <a:rPr lang="en-US" sz="48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 </a:t>
            </a:r>
            <a:r>
              <a:rPr lang="en-US" sz="48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analizzare</a:t>
            </a:r>
            <a:r>
              <a:rPr lang="en-US" sz="48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3520440" cy="420624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gioca cosa?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97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archetipi sono più diffusi e come è cambiato il metagame dal 2020 a oggi.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303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Popolarità per fonte · evoluzione mensile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520440" cy="420624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4572000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cambia con la banlist?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297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reagisce il formato ai 9 aggiornamenti della lista delle carte vietate.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5303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· Era 9 vs Era 10 · piazzamenti per era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520440" cy="420624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8366760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vince davvero?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297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archetipi hanno un winrate superiore al 50% in modo statisticamente affidabile.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5303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Winrate con IC 95% · matchup · confronto Pro Tour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gioca cosa?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200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Popolarità degli archetipi nelle due fonti e la loro evoluzione dal 2020.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GIOCA COSA?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Boros Energy è il mazzo più giocato in entrambe le fonti, ma nei Regional il suo vantaggio si riduce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MTGGoldfish, melee.gg · stessa finestra feb 2025 – ago 2026 · archetipi presenti nella top 15 di entrambe le fonti.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6" name="Image 0" descr="p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09945"/>
            <a:ext cx="7315200" cy="44725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38160" y="17830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 vs 7,3%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33172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Boros Energy: online è quasi il doppio del secondo mazzo, dal vivo il distacco è minore.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24612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×1,9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37947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Jeskai Blink è quasi due volte più presente nei Regional (5,3% vs 2,8%).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70916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÷3,3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525780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Eldrazi Tron fa il percorso opposto: 4,3% online, 1,3% dal vivo.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GIOCA COSA?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Boros Energy ha toccato il 25% del metagame: </a:t>
            </a:r>
            <a:r>
              <a:rPr lang="en-US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</a:t>
            </a: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altro</a:t>
            </a: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archetipo</a:t>
            </a: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 punta dal 2020 aveva superato il 18%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MTGGoldfish (storico) + melee.gg (dal 2025, nomi degli archetipi riconciliati). Quota mensile delle decklist.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0" name="Image 0" descr="e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5" y="1737360"/>
            <a:ext cx="108585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cambia con la banlist?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200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aggiornamenti in cinque anni: come si sposta il metagame quando una carta viene vietata.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CON LA BANLIST?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 aggiornamenti della banlist in cinque anni hanno ridisegnato il formato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magic.wizards.com, annunci ufficiali Banned &amp; Restricted (motivazioni sintetizzate).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11274552" cy="0"/>
          </a:xfrm>
          <a:prstGeom prst="line">
            <a:avLst/>
          </a:prstGeom>
          <a:noFill/>
          <a:ln w="31750">
            <a:solidFill>
              <a:srgbClr val="A7AD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72237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822960" y="3474720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45720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15.02.21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828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 the Dead, Uro e altre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 ripetitive; Uro troppo efficiente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203682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2137410" y="4087368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113157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07.03.22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31570" y="48463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Lurrus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31% dei mazzi vincenti online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35127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3451860" y="3474720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 txBox="1"/>
          <p:nvPr/>
        </p:nvSpPr>
        <p:spPr>
          <a:xfrm>
            <a:off x="24460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10.10.22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2446020" y="1828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Yorion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 lunghe con mazzi da 80 carte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66572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4766310" y="4087368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 txBox="1"/>
          <p:nvPr/>
        </p:nvSpPr>
        <p:spPr>
          <a:xfrm>
            <a:off x="376047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07.08.23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760470" y="48463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Preordain (sbannata)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Rinforzare i mazzi blu «fair»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98017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6080760" y="3474720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 txBox="1"/>
          <p:nvPr/>
        </p:nvSpPr>
        <p:spPr>
          <a:xfrm>
            <a:off x="50749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04.12.23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74920" y="1828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Fury, Up the Beanstalk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Fury rendeva ingiocabili le creature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29462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7395210" y="4087368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 txBox="1"/>
          <p:nvPr/>
        </p:nvSpPr>
        <p:spPr>
          <a:xfrm>
            <a:off x="638937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11.03.24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389370" y="48463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Outburst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Frenare Temur Rhinos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860907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2"/>
          <p:cNvSpPr/>
          <p:nvPr/>
        </p:nvSpPr>
        <p:spPr>
          <a:xfrm>
            <a:off x="8709660" y="3474720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 txBox="1"/>
          <p:nvPr/>
        </p:nvSpPr>
        <p:spPr>
          <a:xfrm>
            <a:off x="77038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16.12.24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703820" y="1828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Ring, Amped Raptor, Jegantha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Jegantha nel 40% dei mazzi; 4 carte sbannate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923526" y="3877056"/>
            <a:ext cx="201168" cy="201168"/>
          </a:xfrm>
          <a:prstGeom prst="ellipse">
            <a:avLst/>
          </a:prstGeom>
          <a:solidFill>
            <a:srgbClr val="1C22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6"/>
          <p:cNvSpPr/>
          <p:nvPr/>
        </p:nvSpPr>
        <p:spPr>
          <a:xfrm>
            <a:off x="10024110" y="4087368"/>
            <a:ext cx="0" cy="393192"/>
          </a:xfrm>
          <a:prstGeom prst="line">
            <a:avLst/>
          </a:prstGeom>
          <a:noFill/>
          <a:ln w="12700">
            <a:solidFill>
              <a:srgbClr val="1C2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 txBox="1"/>
          <p:nvPr/>
        </p:nvSpPr>
        <p:spPr>
          <a:xfrm>
            <a:off x="901827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31.03.25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018270" y="48463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Underworld Breach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letali già dal turno 2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11237976" y="3877056"/>
            <a:ext cx="201168" cy="201168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0"/>
          <p:cNvSpPr/>
          <p:nvPr/>
        </p:nvSpPr>
        <p:spPr>
          <a:xfrm>
            <a:off x="11338560" y="3474720"/>
            <a:ext cx="0" cy="393192"/>
          </a:xfrm>
          <a:prstGeom prst="line">
            <a:avLst/>
          </a:prstGeom>
          <a:noFill/>
          <a:ln w="127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 txBox="1"/>
          <p:nvPr/>
        </p:nvSpPr>
        <p:spPr>
          <a:xfrm>
            <a:off x="9720072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18.05.26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9720072" y="182880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Phlage, Lotus Field</a:t>
            </a:r>
            <a:endParaRPr lang="en-US" sz="13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Phlage dominava Boros e Jeskai; 2 carte sbannate</a:t>
            </a:r>
            <a:endParaRPr lang="en-US" sz="1350" dirty="0"/>
          </a:p>
        </p:txBody>
      </p:sp>
      <p:sp>
        <p:nvSpPr>
          <p:cNvPr id="46" name="Text 43"/>
          <p:cNvSpPr txBox="1"/>
          <p:nvPr/>
        </p:nvSpPr>
        <p:spPr>
          <a:xfrm>
            <a:off x="111442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242887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374332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4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05777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5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637222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6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768667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7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900112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8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10315575" y="4032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9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11064240" y="403250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Phlage</a:t>
            </a:r>
            <a:r>
              <a:rPr lang="it-IT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, Titan of </a:t>
            </a:r>
            <a:r>
              <a:rPr lang="it-IT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Fire’s</a:t>
            </a:r>
            <a:r>
              <a:rPr lang="it-IT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it-IT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fury</a:t>
            </a:r>
            <a:r>
              <a:rPr lang="it-IT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 era in un mazzo su otto prima del </a:t>
            </a:r>
            <a:r>
              <a:rPr lang="it-IT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ban</a:t>
            </a:r>
            <a:r>
              <a:rPr lang="it-IT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</a:rPr>
              <a:t>: 10° carta più giocata del formato</a:t>
            </a:r>
            <a:endParaRPr lang="en-US" sz="2500" b="1" dirty="0">
              <a:solidFill>
                <a:srgbClr val="1C2233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MTGGoldfish + melee.gg, 188.911 mazzi · quota di mazzi che includono la carta (non numero di copie) · terre escluse.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59" y="1737360"/>
            <a:ext cx="11165433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CON LA BANLIST?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Dopo il ban di Phlage, Jeskai Blink quasi scompare e Boros Energy perde 6,4 punti di quota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MTGGoldfish (campione più ampio di melee.gg). Quota delle decklist per era; mostrati i 15 archetipi principali di ciascuna era.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8" name="Image 0" descr="ban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6762059" cy="45719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38160" y="17830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−3,9 p.p.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33172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Jeskai Blink: dal 4,2% allo 0,3%. È il calo relativo più netto (−94%).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24612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−6,4 p.p.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37947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Boros Energy resta primo (8,6%) ma perde quasi metà della sua quota.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5262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+3,0 p.p.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5138928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Goryo's Vengeance è il principale beneficiario, seguito dai mazzi Eldrazi.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946136" y="5934456"/>
            <a:ext cx="3593592" cy="658368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 txBox="1"/>
          <p:nvPr/>
        </p:nvSpPr>
        <p:spPr>
          <a:xfrm>
            <a:off x="8083296" y="582930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L'Era 10 dura finora 3 mesi contro i 14 dell'Era 9: le quote recenti sono meno stabili.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CON LA BANLIST?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parità di durata, Boros Energy guida dall'Era 7; nell'Era 10 Affinity e Goryo's lo raggiungono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MTGGoldfish, solo tornei MTGO (Modern Challenge, Preliminary): unica fonte con un piazzamento confrontabile. Ere 1–3 non tracciate.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8" name="Image 0" descr="to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64882"/>
            <a:ext cx="7498080" cy="44814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38160" y="17830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3–14 mesi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33172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ere hanno durate molto diverse: i conteggi grezzi non sono confrontabili tra loro.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24612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 / mese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37947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Boros Energy nell'Era 9: il valore più alto di tutta la serie.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70916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22,4 / mese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525780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Yawgmoth nell'Era 6: il riferimento prima dell'arrivo di Boros Energy.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91424" y="5838444"/>
            <a:ext cx="3456432" cy="68580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 txBox="1"/>
          <p:nvPr/>
        </p:nvSpPr>
        <p:spPr>
          <a:xfrm>
            <a:off x="8138160" y="5724144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= piazzamenti in top 3 al mese.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Riquadro</a:t>
            </a: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arancione = archetipo più presente in quella era.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CON LA BANLIST?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Violent Outburst torna quasi solo in Living End, ma il winrate non cambia in modo significativo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melee.gg, decklist successive all'unban del 18.05.26 · winrate su tutte le varianti colore di Living End, IC 95% di Wilson.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6" name="Image 0" descr="outbu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59752"/>
            <a:ext cx="4937760" cy="3670015"/>
          </a:xfrm>
          <a:prstGeom prst="rect">
            <a:avLst/>
          </a:prstGeom>
        </p:spPr>
      </p:pic>
      <p:pic>
        <p:nvPicPr>
          <p:cNvPr id="15" name="Image 0" descr="liv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958926"/>
            <a:ext cx="3200400" cy="37631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78240" y="17830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su 37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8778240" y="233172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decklist con Violent Outburst sono Living End (59%).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8778240" y="32461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A7A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+3,3 p.p.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8778240" y="37947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Winrate da 48,6% a 51,9%: differenza non significativa, IC sovrapposti.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vince davvero?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200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Winrate con intervalli di confidenza, matchup diretti e il confronto con il Pro Tour.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VINCE DAVVERO?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 archetipi vincono più del 50% in modo significativo; Izzet Prowess, secondo ai Regionals, è l'unico sotto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melee.gg Regional Championship · archetipi con almeno 300 partite decise · pareggi esclusi · IC 95% di Wilson.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6" name="Image 0" descr="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84" y="1737360"/>
            <a:ext cx="7186649" cy="4617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0" y="178308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233172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archetipi con IC interamente sopra il 50%, da Simic Birthing Ritual (57,3%) a Jeskai Blink (52,6%).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32461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379476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Izzet Prowess è sotto in modo significativo (47,7%, 2.692 partite), pur essendo il 2° mazzo più giocato.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5257800"/>
            <a:ext cx="3502152" cy="100584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 txBox="1"/>
          <p:nvPr/>
        </p:nvSpPr>
        <p:spPr>
          <a:xfrm>
            <a:off x="8366760" y="53035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Grigio = l'intervallo include il 50%: con questi dati non si può dire se il mazzo sia sopra o sotto la media.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VINCE DAVVERO?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Izzet Prowess è sotto il 50% contro 8 dei 9 avversari principali: batte solo Belcher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melee.gg Regional Championship · winrate del mazzo in riga contro quello in colonna · celle con meno di 30 partite tratteggiate.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18" name="Image 0" descr="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52567"/>
            <a:ext cx="7345680" cy="490251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0" y="178308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233172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Izzet Prowess contro Belcher (91 partite): la sua unica vittoria netta.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3246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379476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Izzet Affinity contro Esper Goryo's: il matchup più sbilanciato tra i top 10.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412480" y="470916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35–40%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525780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Izzet Prowess contro Boros Energy, Jeskai Blink e Goryo's Vengeance.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74320" cy="274320"/>
          </a:xfrm>
          <a:prstGeom prst="ellipse">
            <a:avLst/>
          </a:prstGeom>
          <a:solidFill>
            <a:srgbClr val="1C22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VINCE DAVVERO?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Pro Tour Boros Energy scende dal 53% al 44%: il vantaggio dei Regional non si trasferisce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190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melee.gg Regional Championship (questo dataset) · Pro Tour MSH, giorni 1–2, dati pubblicati da Frank Karsten (x.com/karsten_frank).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6" name="Image 0" descr="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7360"/>
            <a:ext cx="6178269" cy="4617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38160" y="178308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−8,9 p.p.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33172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Boros Energy: gli intervalli dei due eventi quasi non si toccano (285 partite al PT).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24612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−6,8 p.p.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37947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Izzet Affinity segue lo stesso schema: sopra il 50% nei Regional, sotto al Pro Tour.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70916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+3,2 / +3,4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525780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Izzet Prowess ed Esper Goryo's vanno meglio al Pro Tour.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Popolarità non è forza: il 2° mazzo più giocato è l'unico che perde in modo significativo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560320" cy="3108960"/>
          </a:xfrm>
          <a:prstGeom prst="rect">
            <a:avLst/>
          </a:prstGeom>
          <a:solidFill>
            <a:srgbClr val="2A31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6868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 mensile di popolarità di Boros Energy (</a:t>
            </a:r>
            <a:r>
              <a:rPr lang="it-IT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r>
              <a:rPr lang="it-IT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2024).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743200"/>
            <a:ext cx="2560320" cy="3108960"/>
          </a:xfrm>
          <a:prstGeom prst="rect">
            <a:avLst/>
          </a:prstGeom>
          <a:solidFill>
            <a:srgbClr val="2A31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365760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vs 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archetipi significativamente sopra e sotto il 50% nei Regional Championship.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2560320" cy="3108960"/>
          </a:xfrm>
          <a:prstGeom prst="rect">
            <a:avLst/>
          </a:prstGeom>
          <a:solidFill>
            <a:srgbClr val="2A31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644652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−3,9 p.p.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ban di Phlage elimina di fatto Jeskai Blink in tre mesi.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06840" y="2743200"/>
            <a:ext cx="2560320" cy="3108960"/>
          </a:xfrm>
          <a:prstGeom prst="rect">
            <a:avLst/>
          </a:prstGeom>
          <a:solidFill>
            <a:srgbClr val="2A31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923544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vs 44%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931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vantaggio di Boros Energy nei Regional non regge al Pro Tour.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</a:t>
            </a:r>
            <a:r>
              <a:rPr lang="en-US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</a:t>
            </a: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</a:t>
            </a: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utilizzati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199" y="2103120"/>
            <a:ext cx="4428067" cy="187452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temporale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799" y="2697480"/>
            <a:ext cx="39539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partita per partita coprono solo le ere 8–10: nessun Regional Championship prima del 2025.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96000" y="2103120"/>
            <a:ext cx="4428066" cy="187452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63246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piazzamenti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324599" y="2697480"/>
            <a:ext cx="393700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MTGGoldfish salva quasi solo piazzamento e decklist, senza il record W-L-D.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4428066" cy="187452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6858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 degli archetipi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800600"/>
            <a:ext cx="39539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Scelti dai giocatori su melee.gg: varianti dello stesso mazzo possono apparire separate.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96000" y="4206240"/>
            <a:ext cx="4428066" cy="1874520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63246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10 giovane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24600" y="4800600"/>
            <a:ext cx="4199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3 mesi contro i 14 dell'Era 9: i numeri recenti sono i meno stabili.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1323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C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melee.gg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Decklist/SearchDecklists, Standing/GetRoundStandings, Player/GetPlayerDetails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87168"/>
            <a:ext cx="11274552" cy="0"/>
          </a:xfrm>
          <a:prstGeom prst="line">
            <a:avLst/>
          </a:prstGeom>
          <a:noFill/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mtggoldfish.com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 Modern, decklist e piazzamenti (2020–2026)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55848"/>
            <a:ext cx="11274552" cy="0"/>
          </a:xfrm>
          <a:prstGeom prst="line">
            <a:avLst/>
          </a:prstGeom>
          <a:noFill/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magic.wizards.com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Annunci ufficiali Banned &amp; Restricted, motivazioni dei ban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24528"/>
            <a:ext cx="11274552" cy="0"/>
          </a:xfrm>
          <a:prstGeom prst="line">
            <a:avLst/>
          </a:prstGeom>
          <a:noFill/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4572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Karsten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Winrate Pro Tour MSH, x.com/karsten_frank/status/2078731453685231746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3136</Words>
  <Application>Microsoft Office PowerPoint</Application>
  <PresentationFormat>Widescreen</PresentationFormat>
  <Paragraphs>277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Metagame Analytics</dc:title>
  <dc:subject>Popolarità, matchup e impatto delle banlist nel formato Modern</dc:subject>
  <dc:creator>Federico Macasso</dc:creator>
  <cp:lastModifiedBy>fede maki</cp:lastModifiedBy>
  <cp:revision>9</cp:revision>
  <dcterms:created xsi:type="dcterms:W3CDTF">2026-09-16T14:37:26Z</dcterms:created>
  <dcterms:modified xsi:type="dcterms:W3CDTF">2026-09-23T09:52:51Z</dcterms:modified>
</cp:coreProperties>
</file>