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71" r:id="rId8"/>
    <p:sldId id="262" r:id="rId9"/>
    <p:sldId id="265" r:id="rId10"/>
    <p:sldId id="266" r:id="rId11"/>
    <p:sldId id="274" r:id="rId12"/>
    <p:sldId id="273" r:id="rId13"/>
    <p:sldId id="268" r:id="rId14"/>
    <p:sldId id="272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A4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6" y="-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573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100000">
            <a:off x="8778240" y="-1371600"/>
            <a:ext cx="5486400" cy="5486400"/>
          </a:xfrm>
          <a:prstGeom prst="rect">
            <a:avLst/>
          </a:prstGeom>
          <a:solidFill>
            <a:srgbClr val="4B3F72">
              <a:alpha val="8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 rot="2100000">
            <a:off x="10241280" y="-2011680"/>
            <a:ext cx="4572000" cy="4572000"/>
          </a:xfrm>
          <a:prstGeom prst="rect">
            <a:avLst/>
          </a:prstGeom>
          <a:solidFill>
            <a:srgbClr val="D9A44A">
              <a:alpha val="22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Shape 2"/>
          <p:cNvSpPr/>
          <p:nvPr/>
        </p:nvSpPr>
        <p:spPr>
          <a:xfrm rot="1200000">
            <a:off x="-2194560" y="4846320"/>
            <a:ext cx="5029200" cy="5029200"/>
          </a:xfrm>
          <a:prstGeom prst="rect">
            <a:avLst/>
          </a:prstGeom>
          <a:solidFill>
            <a:srgbClr val="4B3F72">
              <a:alpha val="6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822960" y="1417320"/>
            <a:ext cx="310896" cy="31089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METAGAME ANALYTICS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20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Popolarità, matchup e impatto delle banlist nel formato Modern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F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(dati di torneo, 2020–2026)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84677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9A4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Fonti: MTGGoldfish · melee.gg Regional Championship / Spotlight Series</a:t>
            </a:r>
            <a:endParaRPr lang="en-US" sz="1200" dirty="0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97908F04-B9A0-46EC-C676-B0A285CC3D63}"/>
              </a:ext>
            </a:extLst>
          </p:cNvPr>
          <p:cNvSpPr txBox="1"/>
          <p:nvPr/>
        </p:nvSpPr>
        <p:spPr>
          <a:xfrm>
            <a:off x="1351657" y="708925"/>
            <a:ext cx="9601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Magic The Gathering</a:t>
            </a:r>
            <a:endParaRPr lang="en-US" sz="3600" dirty="0">
              <a:solidFill>
                <a:srgbClr val="D9A44A"/>
              </a:solidFill>
            </a:endParaRP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99A8ADE4-B9D5-AD84-6E98-6BB22051C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031" y="108028"/>
            <a:ext cx="7854036" cy="241662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37D89C98-5D18-0297-F928-4E40611EC4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8940" y="2524654"/>
            <a:ext cx="4762500" cy="47625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E68103EB-97C5-CE33-7FF4-7A833D8F7E0E}"/>
              </a:ext>
            </a:extLst>
          </p:cNvPr>
          <p:cNvSpPr txBox="1"/>
          <p:nvPr/>
        </p:nvSpPr>
        <p:spPr>
          <a:xfrm>
            <a:off x="8837885" y="6257321"/>
            <a:ext cx="2683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</a:rPr>
              <a:t>Federico Macasso, 21030A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Cos'è Magic: The Gathering?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0972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carte collezionabili in cui due giocatori si sfidano usando un mazzo di carte da loro costruito. Le carte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differenziano in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tipologie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ognuna con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funzionamenti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</a:t>
            </a: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 vince riducendo i punti vita dell'avversario da 20 a 0, o attraverso altre condizioni di vittoria alternative.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6" name="Shape 4"/>
          <p:cNvSpPr/>
          <p:nvPr/>
        </p:nvSpPr>
        <p:spPr>
          <a:xfrm>
            <a:off x="10058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 txBox="1"/>
          <p:nvPr/>
        </p:nvSpPr>
        <p:spPr>
          <a:xfrm>
            <a:off x="10058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546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carte minimo (deck principale) + fino a 15 carte di riserva ("sideboard"), da scambiare tra una partita e l'altra dello stesso incontro.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204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BF3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37490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37490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1546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dei tanti "formati" di gioco: definisce quali carte sono ammesse. Modern include tutte le carte stampate dal 2003 in poi — un pool enorme, non a rotazione.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4922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64922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Incontro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58859" y="30861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gioca al meglio di 3 partite ("games"). Il match finisce quando un giocatore vince 2 partite, o in pareggio se il tempo scade.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06840" y="21031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BF3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9235440" y="2331720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 txBox="1"/>
          <p:nvPr/>
        </p:nvSpPr>
        <p:spPr>
          <a:xfrm>
            <a:off x="9235440" y="26060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315468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base al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giocatori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il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è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round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stabilire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successivemente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seguito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un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torneo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eliminazione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diretta</a:t>
            </a: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4CE3695A-7DA1-CA95-1739-2B29833E549D}"/>
              </a:ext>
            </a:extLst>
          </p:cNvPr>
          <p:cNvSpPr txBox="1"/>
          <p:nvPr/>
        </p:nvSpPr>
        <p:spPr>
          <a:xfrm>
            <a:off x="1152144" y="2236708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Composizione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70B58DB4-5B17-AF46-A918-D462DA2B1130}"/>
              </a:ext>
            </a:extLst>
          </p:cNvPr>
          <p:cNvSpPr txBox="1"/>
          <p:nvPr/>
        </p:nvSpPr>
        <p:spPr>
          <a:xfrm>
            <a:off x="3895344" y="2220206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41B3E"/>
                </a:solidFill>
                <a:latin typeface="Calibri" pitchFamily="34" charset="0"/>
                <a:cs typeface="Calibri" pitchFamily="34" charset="-120"/>
              </a:rPr>
              <a:t>Formato</a:t>
            </a:r>
            <a:endParaRPr lang="it-IT" b="1" dirty="0"/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FEEB3A15-5FB4-A198-7443-4965BA18C220}"/>
              </a:ext>
            </a:extLst>
          </p:cNvPr>
          <p:cNvSpPr txBox="1"/>
          <p:nvPr/>
        </p:nvSpPr>
        <p:spPr>
          <a:xfrm>
            <a:off x="6638544" y="2213848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241B3E"/>
                </a:solidFill>
                <a:latin typeface="Calibri" pitchFamily="34" charset="0"/>
                <a:cs typeface="Calibri" pitchFamily="34" charset="-120"/>
              </a:rPr>
              <a:t>Sfida</a:t>
            </a:r>
            <a:endParaRPr lang="it-IT" b="1" dirty="0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17B23C90-751B-D974-5D8B-9B597B7B0F77}"/>
              </a:ext>
            </a:extLst>
          </p:cNvPr>
          <p:cNvSpPr txBox="1"/>
          <p:nvPr/>
        </p:nvSpPr>
        <p:spPr>
          <a:xfrm>
            <a:off x="9381744" y="2220206"/>
            <a:ext cx="17894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241B3E"/>
                </a:solidFill>
                <a:latin typeface="Calibri" pitchFamily="34" charset="0"/>
                <a:cs typeface="Calibri" pitchFamily="34" charset="-120"/>
              </a:rPr>
              <a:t>Struttura</a:t>
            </a:r>
            <a:endParaRPr lang="it-IT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39496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Chiarimenti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termini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nella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presentazione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28930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 txBox="1"/>
          <p:nvPr/>
        </p:nvSpPr>
        <p:spPr>
          <a:xfrm>
            <a:off x="1051560" y="12070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Archetipo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27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"tipo" di mazzo giocato (es. "Boros Energy", "Amulet Titan") — una strategia riconoscibile, non un singolo giocatore.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28930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6583680" y="12070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Winrate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152704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Percentuale di partite vinte su quelle decise (vittorie + sconfitte). I pareggi sono esclusi dal calcolo, per convenzione.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70662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1051560" y="2624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Matchup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9443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confronto tra due archetipi specifici: "Boros Energy vs Izzet Prowess" è un matchup, con il suo winrate dedicato.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270662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6583680" y="262432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Metagame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94436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Percentuale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utilizzo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un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un arco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tempo rispetto al resto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mazzi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circolazione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12394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10515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Banlist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3616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delle carte vietate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non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utilizzabili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Quando cambia, il metagame si adatta: alcuni archetipi spariscono, altri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emergono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412394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 txBox="1"/>
          <p:nvPr/>
        </p:nvSpPr>
        <p:spPr>
          <a:xfrm>
            <a:off x="658368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Intervallo di confidenza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36168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margine di incertezza statistica attorno a un winrate — più piccolo è il campione, più è largo l'intervallo (meno affidabile il numero).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Obiettivo e metodologia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14300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è cambiato il metagame Modern in sei anni, e quali archetipi performano davvero meglio quando la posta in gioco è alta? Il progetto incrocia due fonti complementari: ampiezza storica (MTGGoldfish) e profondità competitiva, con risultati partita-per-partita reali (melee.gg, tornei Regional Championship / Spotlight Series).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88036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241B3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777240" y="299923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6.434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 melee.gg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(RC / Spotlight Series)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063240" y="288036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241B3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7"/>
          <p:cNvSpPr txBox="1"/>
          <p:nvPr/>
        </p:nvSpPr>
        <p:spPr>
          <a:xfrm>
            <a:off x="3063240" y="299923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35.768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154680" y="36118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analizzate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match-by-match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349240" y="288036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241B3E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 txBox="1"/>
          <p:nvPr/>
        </p:nvSpPr>
        <p:spPr>
          <a:xfrm>
            <a:off x="5349240" y="2999232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361188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 distinti</a:t>
            </a:r>
            <a:endParaRPr lang="en-US" sz="10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dataset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543800" y="1143000"/>
            <a:ext cx="4206240" cy="4114800"/>
          </a:xfrm>
          <a:prstGeom prst="roundRect">
            <a:avLst>
              <a:gd name="adj" fmla="val 1778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 txBox="1"/>
          <p:nvPr/>
        </p:nvSpPr>
        <p:spPr>
          <a:xfrm>
            <a:off x="7772400" y="1307592"/>
            <a:ext cx="3749040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outcome ricalcolato dal punteggio grezzo delle partite; archetipo unito via decklist ↔ standings; nomi placeholder (es. "?????") esclusi. W-L-D reale è disponibile solo lato melee.gg — MTGGoldfish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fornisce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piazzamento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non il record partita per partita.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Composizione del dataset</a:t>
            </a:r>
            <a:endParaRPr lang="en-US" sz="2600" dirty="0"/>
          </a:p>
        </p:txBody>
      </p:sp>
      <p:pic>
        <p:nvPicPr>
          <p:cNvPr id="4" name="Image 0" descr="/mnt/user-data/outputs/chart_data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942" y="1033272"/>
            <a:ext cx="8135636" cy="42132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dataset MTGGoldfish è a maggioranza MTGO (63% contro 37% Paper/Other) e copre 2020–2026, con volumi in crescita fino al 2024; il calo nel 2025–2026 riflette la copertura più recente, non un vero calo di tornei giocati.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5488" y="552622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Popolarità degli archetipi (aggregato)</a:t>
            </a:r>
            <a:endParaRPr lang="en-US" sz="2600" dirty="0"/>
          </a:p>
        </p:txBody>
      </p:sp>
      <p:pic>
        <p:nvPicPr>
          <p:cNvPr id="4" name="Image 0" descr="/mnt/user-data/outputs/chart_archetype_pop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03504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371600"/>
            <a:ext cx="4754880" cy="2011680"/>
          </a:xfrm>
          <a:prstGeom prst="roundRect">
            <a:avLst>
              <a:gd name="adj" fmla="val 3636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7086600" y="1536192"/>
            <a:ext cx="429768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Boros Energy, Jeskai Blink e Izzet Prowess/Affinity dominano il campo dei Regional Championship — coerente con un metagame aggressivo/tempo-oriented, tipico quando la posta in gioco (invito, punti) premia partite rapide e coerenti.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0" y="3566160"/>
            <a:ext cx="4754880" cy="1737360"/>
          </a:xfrm>
          <a:prstGeom prst="roundRect">
            <a:avLst>
              <a:gd name="adj" fmla="val 4211"/>
            </a:avLst>
          </a:prstGeom>
          <a:solidFill>
            <a:srgbClr val="FBF3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 txBox="1"/>
          <p:nvPr/>
        </p:nvSpPr>
        <p:spPr>
          <a:xfrm>
            <a:off x="7086600" y="3730752"/>
            <a:ext cx="429768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Nota: "archetipo" qui è il nome scelto dal giocatore su melee.gg, non una classificazione verificata — varianti dello stesso mazzo (es. colori diversi di Amulet Titan) possono comparire come voci separate.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Evoluzione storica del metagame</a:t>
            </a:r>
            <a:endParaRPr lang="en-US" sz="2600" dirty="0"/>
          </a:p>
        </p:txBody>
      </p:sp>
      <p:pic>
        <p:nvPicPr>
          <p:cNvPr id="4" name="Image 0" descr="metagam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48" y="1234440"/>
            <a:ext cx="10315024" cy="40120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mensile dei top 10 archetipi, ago 2020 – oggi: storico MTGGoldfish, con Melee.gg (dal 2025, nomi archetipo riconciliati) ad arricchire i mesi recenti. La quota "Other" resta ampia: il meta storico è molto frammentato (500+ archetipi distinti).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262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274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Influenza della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banlist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 18-05-2026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e dopo l'ultimo aggiornamento banlist (18 maggio 2026). Fonte: MTGGoldfish, campione più ampio di Melee.gg.</a:t>
            </a:r>
            <a:endParaRPr lang="en-US" sz="1200" dirty="0"/>
          </a:p>
        </p:txBody>
      </p:sp>
      <p:pic>
        <p:nvPicPr>
          <p:cNvPr id="5" name="Image 0" descr="popularity_era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9856" y="1280160"/>
            <a:ext cx="6891983" cy="48456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262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274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winrate e matchup dettagliato (aggregato)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22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Archetipi con almeno 300 partite decise, intervallo di confidenza 95%.</a:t>
            </a:r>
            <a:endParaRPr lang="en-US" sz="1200" dirty="0"/>
          </a:p>
        </p:txBody>
      </p:sp>
      <p:pic>
        <p:nvPicPr>
          <p:cNvPr id="5" name="Image 0" descr="/mnt/user-data/outputs/chart_ranking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671" y="1143000"/>
            <a:ext cx="9222352" cy="5486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user-data/outputs/chart_ranking_matrix_er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3330" y="777240"/>
            <a:ext cx="9034860" cy="5669280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57200" y="45262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2743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winrate — Era 9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8229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Soglia: almeno 250 partite decise nell'era.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39496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Piazzamenti in top 3 per era (MTGO)</a:t>
            </a:r>
            <a:endParaRPr lang="en-US" sz="2600" dirty="0"/>
          </a:p>
        </p:txBody>
      </p:sp>
      <p:pic>
        <p:nvPicPr>
          <p:cNvPr id="4" name="Image 0" descr="top3_by_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814" y="1234440"/>
            <a:ext cx="7775892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Conteggio dei piazzamenti in top 3 nei tornei MTGO (Modern Challenge, Preliminary), unica fonte con un rank numerico comparabile fra eventi. Le ere 1-3 non hanno dati MTGO tracciati. Il picco di Boros Energy in Era 9 è ben visibile rispetto agli altri archetipi.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Modern winrates: PT MSH - Day 1 + 2 (Frank Karsten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1731" y="539496"/>
            <a:ext cx="9038058" cy="522206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confronto esterno: il Pro Tour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esterni: risultati match-by-match del Pro Tour MSH, evento invito-only di livello superiore ai Regional Championship. Fonte: Frank Karsten, x.com/karsten_frank/status/2078731453685231746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L’Unban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della carta “Violent Outburst” e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l’archetipo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Living End</a:t>
            </a:r>
            <a:endParaRPr lang="en-US" sz="2600" dirty="0"/>
          </a:p>
        </p:txBody>
      </p:sp>
      <p:pic>
        <p:nvPicPr>
          <p:cNvPr id="4" name="Image 0" descr="banlist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55495"/>
            <a:ext cx="10515600" cy="37470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62356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788152"/>
            <a:ext cx="100584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End adotta subito Violent Outburst come cascade enabler gratuito, e il suo winrate sale dal 48,4% (Era 9) al 51,9% (Era 10) — coerente con l'ipotesi di un boost, ma il campione Era 10 (n=52) è ancora troppo piccolo per dirlo con certezza.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39496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Carte più giocate: main deck e sideboard</a:t>
            </a:r>
            <a:endParaRPr lang="en-US" sz="2600" dirty="0"/>
          </a:p>
        </p:txBody>
      </p:sp>
      <p:sp>
        <p:nvSpPr>
          <p:cNvPr id="10" name="Text Label Main"/>
          <p:cNvSpPr txBox="1"/>
          <p:nvPr/>
        </p:nvSpPr>
        <p:spPr>
          <a:xfrm>
            <a:off x="2148220" y="1050000"/>
            <a:ext cx="37770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B3E"/>
                </a:solidFill>
                <a:latin typeface="Calibri" pitchFamily="34" charset="0"/>
              </a:rPr>
              <a:t>Main deck</a:t>
            </a:r>
            <a:endParaRPr lang="en-US" sz="1300" b="1" dirty="0"/>
          </a:p>
        </p:txBody>
      </p:sp>
      <p:sp>
        <p:nvSpPr>
          <p:cNvPr id="11" name="Text Label Side"/>
          <p:cNvSpPr txBox="1"/>
          <p:nvPr/>
        </p:nvSpPr>
        <p:spPr>
          <a:xfrm>
            <a:off x="6325293" y="1050000"/>
            <a:ext cx="3718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B3E"/>
                </a:solidFill>
                <a:latin typeface="Calibri" pitchFamily="34" charset="0"/>
              </a:rPr>
              <a:t>Sideboard</a:t>
            </a:r>
            <a:endParaRPr lang="en-US" sz="1300" b="1" dirty="0"/>
          </a:p>
        </p:txBody>
      </p:sp>
      <p:pic>
        <p:nvPicPr>
          <p:cNvPr id="4" name="Image Main" descr="top_cards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220" y="1350000"/>
            <a:ext cx="3777073" cy="4090680"/>
          </a:xfrm>
          <a:prstGeom prst="rect">
            <a:avLst/>
          </a:prstGeom>
        </p:spPr>
      </p:pic>
      <p:pic>
        <p:nvPicPr>
          <p:cNvPr id="9" name="Image Side" descr="top_cards_side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293" y="1350000"/>
            <a:ext cx="3718487" cy="409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54406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F4F2F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 txBox="1"/>
          <p:nvPr/>
        </p:nvSpPr>
        <p:spPr>
          <a:xfrm>
            <a:off x="1051560" y="5605272"/>
            <a:ext cx="10058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carta: quota di mazzi che la include (non somma delle copie, altrimenti i 4-of schiaccerebbero il grafico). Terre escluse (301 nomi, derivati dal campo card_type di Melee.gg). Fonte: MTGGoldfish + Melee.gg, 188.911 mazzi analizzati.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9930" y="544068"/>
            <a:ext cx="146304" cy="146304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 txBox="1"/>
          <p:nvPr/>
        </p:nvSpPr>
        <p:spPr>
          <a:xfrm>
            <a:off x="777240" y="36576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incontrati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nella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creazione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</a:t>
            </a:r>
            <a:r>
              <a:rPr lang="en-US" sz="2600" b="1" dirty="0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600" b="1" dirty="0" err="1">
                <a:solidFill>
                  <a:srgbClr val="241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777240" y="2249424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1051560" y="2157984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Copertura temporale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49631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match-by-match coprono solo le ere di banlist più recenti (8–10); nessun evento RC tracciato prima del 2024.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236976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 txBox="1"/>
          <p:nvPr/>
        </p:nvSpPr>
        <p:spPr>
          <a:xfrm>
            <a:off x="1051560" y="3145536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MTGGoldfish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48386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maggior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tornei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salvata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solamente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piazzamento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la </a:t>
            </a:r>
            <a:r>
              <a:rPr lang="en-US" sz="125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decklist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24528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 txBox="1"/>
          <p:nvPr/>
        </p:nvSpPr>
        <p:spPr>
          <a:xfrm>
            <a:off x="1051560" y="413308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71416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125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Il dataset non include Pro Tour né eventi minori — segnale competitivo '</a:t>
            </a:r>
            <a:r>
              <a:rPr lang="it-IT" sz="125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puro'</a:t>
            </a:r>
            <a:r>
              <a:rPr lang="it-IT" sz="125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ma non rappresentativo</a:t>
            </a:r>
            <a:endParaRPr lang="en-US" sz="1250" dirty="0">
              <a:solidFill>
                <a:srgbClr val="1A1A1A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77240" y="5212080"/>
            <a:ext cx="128016" cy="128016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 txBox="1"/>
          <p:nvPr/>
        </p:nvSpPr>
        <p:spPr>
          <a:xfrm>
            <a:off x="1051560" y="512064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1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Campione Era 10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45896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L'era corrente è ancora "giovane" (~3 mesi contro i 14 dell'Era 9): i numeri più recenti sono i meno stabili statisticamente.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61288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4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800000">
            <a:off x="9326880" y="-1645920"/>
            <a:ext cx="5029200" cy="5029200"/>
          </a:xfrm>
          <a:prstGeom prst="rect">
            <a:avLst/>
          </a:prstGeom>
          <a:solidFill>
            <a:srgbClr val="4B3F72">
              <a:alpha val="7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822960" y="749808"/>
            <a:ext cx="274320" cy="27432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 txBox="1"/>
          <p:nvPr/>
        </p:nvSpPr>
        <p:spPr>
          <a:xfrm>
            <a:off x="123444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 txBox="1"/>
          <p:nvPr/>
        </p:nvSpPr>
        <p:spPr>
          <a:xfrm>
            <a:off x="1143000" y="1920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melee.gg — Decklist/SearchDecklists, Standing/GetRoundStandings, Player/</a:t>
            </a:r>
            <a:r>
              <a:rPr lang="en-US" sz="1350" dirty="0" err="1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GetPlayerDetails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68680" y="2665476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 txBox="1"/>
          <p:nvPr/>
        </p:nvSpPr>
        <p:spPr>
          <a:xfrm>
            <a:off x="114300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mtggoldfish.com — tornei Modern, decklist e piazzamenti (2020–2026)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68680" y="3227832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 txBox="1"/>
          <p:nvPr/>
        </p:nvSpPr>
        <p:spPr>
          <a:xfrm>
            <a:off x="1143000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3D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Scraping e pipeline dati: script Python su misura (requests, pandas, matplotlib)</a:t>
            </a:r>
            <a:endParaRPr lang="en-US" sz="135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CDE0DD7A-F6AD-4A20-8214-8B94534EA510}"/>
              </a:ext>
            </a:extLst>
          </p:cNvPr>
          <p:cNvSpPr/>
          <p:nvPr/>
        </p:nvSpPr>
        <p:spPr>
          <a:xfrm>
            <a:off x="868680" y="3790188"/>
            <a:ext cx="91440" cy="91440"/>
          </a:xfrm>
          <a:prstGeom prst="diamond">
            <a:avLst/>
          </a:prstGeom>
          <a:solidFill>
            <a:srgbClr val="D9A44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5AF7D814-C393-9FAF-6965-826D8D0664B0}"/>
              </a:ext>
            </a:extLst>
          </p:cNvPr>
          <p:cNvSpPr txBox="1"/>
          <p:nvPr/>
        </p:nvSpPr>
        <p:spPr>
          <a:xfrm>
            <a:off x="1143000" y="36073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50" dirty="0">
                <a:solidFill>
                  <a:srgbClr val="E3DEF2"/>
                </a:solidFill>
                <a:latin typeface="Calibri" pitchFamily="34" charset="0"/>
                <a:cs typeface="Calibri" pitchFamily="34" charset="-120"/>
              </a:rPr>
              <a:t>Frank Karsten, x.com/</a:t>
            </a:r>
            <a:r>
              <a:rPr lang="en-US" sz="1350" dirty="0" err="1">
                <a:solidFill>
                  <a:srgbClr val="E3DEF2"/>
                </a:solidFill>
                <a:latin typeface="Calibri" pitchFamily="34" charset="0"/>
                <a:cs typeface="Calibri" pitchFamily="34" charset="-120"/>
              </a:rPr>
              <a:t>karsten_frank</a:t>
            </a:r>
            <a:r>
              <a:rPr lang="en-US" sz="1350" dirty="0">
                <a:solidFill>
                  <a:srgbClr val="E3DEF2"/>
                </a:solidFill>
                <a:latin typeface="Calibri" pitchFamily="34" charset="0"/>
                <a:cs typeface="Calibri" pitchFamily="34" charset="-120"/>
              </a:rPr>
              <a:t>/status/2078731453685231746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F449916-AAD2-4F3E-AF01-40401DFC2C8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53369a9-1434-404d-8143-6feb75dd26b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1183</Words>
  <Application>Microsoft Office PowerPoint</Application>
  <PresentationFormat>Widescreen</PresentationFormat>
  <Paragraphs>108</Paragraphs>
  <Slides>16</Slides>
  <Notes>12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Modern Metagame Analytics</dc:title>
  <dc:subject>Popolarità, matchup e impatto delle banlist nel formato Modern</dc:subject>
  <dc:creator>Federico Macasso</dc:creator>
  <cp:lastModifiedBy>Federico Macasso</cp:lastModifiedBy>
  <cp:revision>10</cp:revision>
  <dcterms:created xsi:type="dcterms:W3CDTF">2026-09-04T13:06:51Z</dcterms:created>
  <dcterms:modified xsi:type="dcterms:W3CDTF">2026-09-06T13:44:00Z</dcterms:modified>
</cp:coreProperties>
</file>